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c227eac434fbf" /><Relationship Type="http://schemas.openxmlformats.org/officeDocument/2006/relationships/extended-properties" Target="/docProps/app.xml" Id="Re3b72947cfc545f9" /><Relationship Type="http://schemas.openxmlformats.org/officeDocument/2006/relationships/officeDocument" Target="/ppt/presentation.xml" Id="R2a28ebfa26d0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7a6d5a7104398"/>
  </p:sldMasterIdLst>
  <p:notesMasterIdLst>
    <p:notesMasterId xmlns:r="http://schemas.openxmlformats.org/officeDocument/2006/relationships" r:id="Rc92e2ecd7cf84aae"/>
  </p:notesMasterIdLst>
  <p:sldIdLst>
    <p:sldId xmlns:r="http://schemas.openxmlformats.org/officeDocument/2006/relationships" id="256" r:id="R3b8ba6ac66fa4a5f"/>
    <p:sldId xmlns:r="http://schemas.openxmlformats.org/officeDocument/2006/relationships" id="257" r:id="R4f95081a97db4022"/>
    <p:sldId xmlns:r="http://schemas.openxmlformats.org/officeDocument/2006/relationships" id="258" r:id="R76995b2286724839"/>
    <p:sldId xmlns:r="http://schemas.openxmlformats.org/officeDocument/2006/relationships" id="259" r:id="Raaa90544cfd246fb"/>
    <p:sldId xmlns:r="http://schemas.openxmlformats.org/officeDocument/2006/relationships" id="260" r:id="R16dc368820894013"/>
    <p:sldId xmlns:r="http://schemas.openxmlformats.org/officeDocument/2006/relationships" id="261" r:id="Rad5b12bd7c4a45d9"/>
    <p:sldId xmlns:r="http://schemas.openxmlformats.org/officeDocument/2006/relationships" id="262" r:id="R43bdea4c617b45d8"/>
    <p:sldId xmlns:r="http://schemas.openxmlformats.org/officeDocument/2006/relationships" id="263" r:id="R5156c8311adf46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0490ec1d04c18" /><Relationship Type="http://schemas.openxmlformats.org/officeDocument/2006/relationships/slideMaster" Target="/ppt/slideMasters/slideMaster1.xml" Id="R5a47a6d5a7104398" /><Relationship Type="http://schemas.openxmlformats.org/officeDocument/2006/relationships/notesMaster" Target="/ppt/notesMasters/notesMaster1.xml" Id="Rc92e2ecd7cf84aae" /><Relationship Type="http://schemas.openxmlformats.org/officeDocument/2006/relationships/presProps" Target="/ppt/presProps.xml" Id="Raa538aca4d254b76" /><Relationship Type="http://schemas.openxmlformats.org/officeDocument/2006/relationships/tableStyles" Target="/ppt/tableStyles.xml" Id="R441564d5c0c148f1" /><Relationship Type="http://schemas.openxmlformats.org/officeDocument/2006/relationships/slide" Target="/ppt/slides/slide1.xml" Id="R3b8ba6ac66fa4a5f" /><Relationship Type="http://schemas.openxmlformats.org/officeDocument/2006/relationships/slide" Target="/ppt/slides/slide2.xml" Id="R4f95081a97db4022" /><Relationship Type="http://schemas.openxmlformats.org/officeDocument/2006/relationships/slide" Target="/ppt/slides/slide3.xml" Id="R76995b2286724839" /><Relationship Type="http://schemas.openxmlformats.org/officeDocument/2006/relationships/slide" Target="/ppt/slides/slide4.xml" Id="Raaa90544cfd246fb" /><Relationship Type="http://schemas.openxmlformats.org/officeDocument/2006/relationships/slide" Target="/ppt/slides/slide5.xml" Id="R16dc368820894013" /><Relationship Type="http://schemas.openxmlformats.org/officeDocument/2006/relationships/slide" Target="/ppt/slides/slide6.xml" Id="Rad5b12bd7c4a45d9" /><Relationship Type="http://schemas.openxmlformats.org/officeDocument/2006/relationships/slide" Target="/ppt/slides/slide7.xml" Id="R43bdea4c617b45d8" /><Relationship Type="http://schemas.openxmlformats.org/officeDocument/2006/relationships/slide" Target="/ppt/slides/slide8.xml" Id="R5156c8311adf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cde62a5ea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9300936bd4d61" /><Relationship Type="http://schemas.openxmlformats.org/officeDocument/2006/relationships/notesMaster" Target="/ppt/notesMasters/notesMaster1.xml" Id="R968c138bc6e3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fcdd8f6e3455c" /><Relationship Type="http://schemas.openxmlformats.org/officeDocument/2006/relationships/notesMaster" Target="/ppt/notesMasters/notesMaster1.xml" Id="Rcd661857497040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393aea93f4437" /><Relationship Type="http://schemas.openxmlformats.org/officeDocument/2006/relationships/notesMaster" Target="/ppt/notesMasters/notesMaster1.xml" Id="R3b2a4edd140140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34d602787541cb" /><Relationship Type="http://schemas.openxmlformats.org/officeDocument/2006/relationships/notesMaster" Target="/ppt/notesMasters/notesMaster1.xml" Id="Rebe60816ce3b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5671280f0413a" /><Relationship Type="http://schemas.openxmlformats.org/officeDocument/2006/relationships/notesMaster" Target="/ppt/notesMasters/notesMaster1.xml" Id="R2b5829daabd446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b6ef250714404" /><Relationship Type="http://schemas.openxmlformats.org/officeDocument/2006/relationships/notesMaster" Target="/ppt/notesMasters/notesMaster1.xml" Id="R080aa9eb11e843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cd6570686d4e0e" /><Relationship Type="http://schemas.openxmlformats.org/officeDocument/2006/relationships/notesMaster" Target="/ppt/notesMasters/notesMaster1.xml" Id="Ree61adea36d540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ab7db87944bd0" /><Relationship Type="http://schemas.openxmlformats.org/officeDocument/2006/relationships/notesMaster" Target="/ppt/notesMasters/notesMaster1.xml" Id="Rc0400254978a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截图来源：/Users/ding/.codex/visualizations/2026/09/21/01a0c562-c64f-7f41-94c6-bf2f81101173/courtlens-arena-runtime/workspace/broadcast-browser-tests/studio-desktop.png。素材为仓库自制合成演练画面，不是真实 NBA 比赛。产品状态以本地浏览器验收为准。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值取自用户提供的《参赛行动清单.md》D节，依据2026-09-28赛前培训摘要整理，原件路径：/Users/ding/.codex/visualizations/2026/09/21/01a0c562-c64f-7f41-94c6-bf2f81101173/courtlens-redesign-20260930/inputs/参赛行动清单.md。机器35、人工55、真球迷问答4、24秒投篮6，共100。图中“现场参与10”合并问答与投篮，仅展示评分结构，绝非项目已获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/Users/ding/.codex/visualizations/2026/09/21/01a0c562-c64f-7f41-94c6-bf2f81101173/courtlens-arena-runtime/workspace/broadcast-browser-tests/observe-desktop.png，仅取顶部1440×900可见区域；真实本地浏览器界面，合成演练素材。四步逻辑与实际前端/后端合同见 /Users/ding/.codex/visualizations/2026/09/21/01a0c562-c64f-7f41-94c6-bf2f81101173/courtlens-arena-runtime/docs/Broadcast使用指南.md 和 /Users/ding/.codex/visualizations/2026/09/21/01a0c562-c64f-7f41-94c6-bf2f81101173/courtlens-arena-runtime/contracts/broadcast-v1.json。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精确时间来源：/Users/ding/.codex/visualizations/2026/09/21/01a0c562-c64f-7f41-94c6-bf2f81101173/courtlens-redesign-20260930/blackbox/voice-release.json 与 /Users/ding/.codex/visualizations/2026/09/21/01a0c562-c64f-7f41-94c6-bf2f81101173/courtlens-redesign-20260930/blackbox/release.json。配音版 sourceRange 0–8s、观察1–6s、字幕2–6s、Tingting语音自2.000s开始持续2.386542s，无截断。另一已审核静音版含人工箭头2–3s；voice-release 的 beat.annotation 为 null，因此配音版并未烧录箭头，图中分开标注。画面是合成素材，不是 NBA 比赛。右侧草稿截图来源：/Users/ding/.codex/visualizations/2026/09/21/01a0c562-c64f-7f41-94c6-bf2f81101173/courtlens-arena-runtime/workspace/broadcast-browser-tests/story-desktop.png；视频定格来自 /Users/ding/.codex/visualizations/2026/09/21/01a0c562-c64f-7f41-94c6-bf2f81101173/courtlens-redesign-20260930/blackbox/voiced-film.mp4。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项来源：/Users/ding/.codex/visualizations/2026/09/21/01a0c562-c64f-7f41-94c6-bf2f81101173/courtlens-redesign-20260930/blackbox/metrics-results.json，11项均为独立定向验收。演练用指标包是测试数据，没有导入真实官方NBA比赛值。本页不呈现任何伪造的官方数字。规则来源：/Users/ding/.codex/visualizations/2026/09/21/01a0c562-c64f-7f41-94c6-bf2f81101173/courtlens-arena-runtime/core/broadcast/valid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与边界依据：/Users/ding/.codex/visualizations/2026/09/21/01a0c562-c64f-7f41-94c6-bf2f81101173/courtlens-arena-runtime/docs/Broadcast-AWS部署.md、/Users/ding/.codex/visualizations/2026/09/21/01a0c562-c64f-7f41-94c6-bf2f81101173/courtlens-arena-runtime/infra、/Users/ding/.codex/visualizations/2026/09/21/01a0c562-c64f-7f41-94c6-bf2f81101173/courtlens-arena-runtime/cloud。CDK 已离线 synth；账号/允许Region/Portal指定Agent服务未确认，Docker镜像拉取超时，AWS真实部署、AgentCore/Bedrock调用、Cognito回调、签名S3上传、Fargate render均未云端实测。图示为已编码的设计与合同，不代表已上线。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浏览器20项来源：/Users/ding/.codex/visualizations/2026/09/21/01a0c562-c64f-7f41-94c6-bf2f81101173/courtlens-arena-runtime/workspace/broadcast-browser-tests/results.json。黑盒12项：/Users/ding/.codex/visualizations/2026/09/21/01a0c562-c64f-7f41-94c6-bf2f81101173/courtlens-redesign-20260930/blackbox/results.json。指标11项：/Users/ding/.codex/visualizations/2026/09/21/01a0c562-c64f-7f41-94c6-bf2f81101173/courtlens-redesign-20260930/blackbox/metrics-results.json。语音6项：/Users/ding/.codex/visualizations/2026/09/21/01a0c562-c64f-7f41-94c6-bf2f81101173/courtlens-redesign-20260930/blackbox/voice-results.json。攻击与异常输入7项：/Users/ding/.codex/visualizations/2026/09/21/01a0c562-c64f-7f41-94c6-bf2f81101173/courtlens-redesign-20260930/blackbox/attack-results.json。这些是定向验收项数，不是视频识别准确率、云端运行率或赛事评分。截图来源：/Users/ding/.codex/visualizations/2026/09/21/01a0c562-c64f-7f41-94c6-bf2f81101173/courtlens-arena-runtime/workspace/broadcast-browser-tests/watch-desktop.png，仅取顶部1440×900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截图来源：/Users/ding/.codex/visualizations/2026/09/21/01a0c562-c64f-7f41-94c6-bf2f81101173/courtlens-arena-runtime/workspace/broadcast-browser-tests/watch-mobile.png，390px真实浏览器视口，合成演练影片。交付内容来自仓库：/Users/ding/.codex/visualizations/2026/09/21/01a0c562-c64f-7f41-94c6-bf2f81101173/courtlens-arena-runtime；云端未验收限制来自 /Users/ding/.codex/visualizations/2026/09/21/01a0c562-c64f-7f41-94c6-bf2f81101173/courtlens-arena-runtime/docs/Broadcast-AWS部署.md。官方比赛视频、正式AWS账号、Portal指定Agent服务及模型供应商凭证目前未取得。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2a9bef7b049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985549e0343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e971a9d0f4b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58c8d3e1644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e5129297d48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ee411dc3544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9404B9-9D14-4D3A-8D58-0D888D3DB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F63504-5EE8-4CB1-BF4C-2BC68EE4FE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9B57FA-520F-42E5-9D8B-A7B72A7CC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5E33C8-D418-40A0-B363-121F6DA20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082B86-B393-479A-B52E-D7C9A3B59F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A8D168-9EED-46CB-93F9-F0F588CFE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E28F11-B2AE-42F7-9F50-D3BE455749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B00B6D-BE6E-42BA-B2B0-4F4E74FB4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BBD70E-1796-4017-8204-083D0B705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7A3DDA-AC93-4500-93F9-BB05DA8EF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0e03d47dd845e3" /><Relationship Type="http://schemas.openxmlformats.org/officeDocument/2006/relationships/slideLayout" Target="/ppt/slideLayouts/slideLayout1.xml" Id="R847904bb46864f81" /><Relationship Type="http://schemas.openxmlformats.org/officeDocument/2006/relationships/slideLayout" Target="/ppt/slideLayouts/slideLayout2.xml" Id="Rfbd7fedb07ef44bf" /><Relationship Type="http://schemas.openxmlformats.org/officeDocument/2006/relationships/slideLayout" Target="/ppt/slideLayouts/slideLayout3.xml" Id="R6a47e3672829413e" /><Relationship Type="http://schemas.openxmlformats.org/officeDocument/2006/relationships/slideLayout" Target="/ppt/slideLayouts/slideLayout4.xml" Id="R4725205f84c64f55" /><Relationship Type="http://schemas.openxmlformats.org/officeDocument/2006/relationships/slideLayout" Target="/ppt/slideLayouts/slideLayout5.xml" Id="R15c0579a5c2c4629" /><Relationship Type="http://schemas.openxmlformats.org/officeDocument/2006/relationships/slideLayout" Target="/ppt/slideLayouts/slideLayout6.xml" Id="R42b14634191546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904bb46864f81"/>
    <p:sldLayoutId xmlns:r="http://schemas.openxmlformats.org/officeDocument/2006/relationships" id="2147483650" r:id="Rfbd7fedb07ef44bf"/>
    <p:sldLayoutId xmlns:r="http://schemas.openxmlformats.org/officeDocument/2006/relationships" id="2147483651" r:id="R6a47e3672829413e"/>
    <p:sldLayoutId xmlns:r="http://schemas.openxmlformats.org/officeDocument/2006/relationships" id="2147483652" r:id="R4725205f84c64f55"/>
    <p:sldLayoutId xmlns:r="http://schemas.openxmlformats.org/officeDocument/2006/relationships" id="2147483653" r:id="R15c0579a5c2c4629"/>
    <p:sldLayoutId xmlns:r="http://schemas.openxmlformats.org/officeDocument/2006/relationships" id="2147483654" r:id="R42b14634191546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a430f43314038" /><Relationship Type="http://schemas.openxmlformats.org/officeDocument/2006/relationships/image" Target="/ppt/media/image.png" Id="R8791b6b0f9094b3e" /><Relationship Type="http://schemas.openxmlformats.org/officeDocument/2006/relationships/notesSlide" Target="/ppt/notesSlides/notesSlide1.xml" Id="Rab55c8bb3ae146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e47e64d904a2c" /><Relationship Type="http://schemas.openxmlformats.org/officeDocument/2006/relationships/chart" Target="/ppt/slides/charts/chart1.xml" Id="R631d746422844546" /><Relationship Type="http://schemas.openxmlformats.org/officeDocument/2006/relationships/notesSlide" Target="/ppt/notesSlides/notesSlide2.xml" Id="Rf3304f1dc4cf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a5df7c4c24278" /><Relationship Type="http://schemas.openxmlformats.org/officeDocument/2006/relationships/image" Target="/ppt/media/image2.png" Id="R68d51d8b033d4f21" /><Relationship Type="http://schemas.openxmlformats.org/officeDocument/2006/relationships/notesSlide" Target="/ppt/notesSlides/notesSlide3.xml" Id="R160f8c7c53204d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7ff3010694e4b" /><Relationship Type="http://schemas.openxmlformats.org/officeDocument/2006/relationships/image" Target="/ppt/media/image3.png" Id="R00a475dc335e405a" /><Relationship Type="http://schemas.openxmlformats.org/officeDocument/2006/relationships/image" Target="/ppt/media/image4.png" Id="R94eecf4022d84812" /><Relationship Type="http://schemas.openxmlformats.org/officeDocument/2006/relationships/notesSlide" Target="/ppt/notesSlides/notesSlide4.xml" Id="R0c08c3ca8121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fe5cff71c4907" /><Relationship Type="http://schemas.openxmlformats.org/officeDocument/2006/relationships/notesSlide" Target="/ppt/notesSlides/notesSlide5.xml" Id="R34bc76a0499b47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df6ecec9d4919" /><Relationship Type="http://schemas.openxmlformats.org/officeDocument/2006/relationships/notesSlide" Target="/ppt/notesSlides/notesSlide6.xml" Id="R49edeaef2b9d45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1f9df4d0b43cc" /><Relationship Type="http://schemas.openxmlformats.org/officeDocument/2006/relationships/image" Target="/ppt/media/image5.png" Id="Ra1e21d2284164ecd" /><Relationship Type="http://schemas.openxmlformats.org/officeDocument/2006/relationships/notesSlide" Target="/ppt/notesSlides/notesSlide7.xml" Id="R6034e36357d34e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ba8d3d4974314" /><Relationship Type="http://schemas.openxmlformats.org/officeDocument/2006/relationships/image" Target="/ppt/media/image6.png" Id="Rf3899ee0b9284c9b" /><Relationship Type="http://schemas.openxmlformats.org/officeDocument/2006/relationships/notesSlide" Target="/ppt/notesSlides/notesSlide8.xml" Id="Rce463ba9208e48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培训摘要分值</c:v>
          </c:tx>
          <c:spPr>
            <a:solidFill xmlns:a="http://schemas.openxmlformats.org/drawingml/2006/main">
              <a:srgbClr val="4796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F98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796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EDBB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人工评分</c:v>
                </c:pt>
                <c:pt idx="1">
                  <c:v>机器评分</c:v>
                </c:pt>
                <c:pt idx="2">
                  <c:v>现场参与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55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F7FAFF"/>
                  </a:solidFill>
                  <a:latin typeface="STHeiti"/>
                  <a:ea typeface="STHeiti"/>
                  <a:cs typeface="STHeit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THeiti"/>
                <a:ea typeface="STHeiti"/>
                <a:cs typeface="STHeit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938BB-B52A-423B-B476-A7135B4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FBC36-DC13-4744-A920-404C5E4A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96FF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4796FF"/>
                </a:solidFill>
                <a:latin typeface="STHeiti"/>
                <a:ea typeface="STHeiti"/>
                <a:cs typeface="STHeiti"/>
              </a:rPr>
              <a:t>COURTLENS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04370-3D77-4EC0-B31E-F21DCADF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390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BROADCAST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571DB-A11E-4854-8097-198F16C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70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有依据的回合解说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01B39-8B77-4827-9EDD-0C3257D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真实视频制作台与独立观赛页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B9732-8A39-42AB-B284-B8FAED0C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8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9A1FB-E61C-4BDA-81E0-A1A0D7AB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本地可运行原型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654A0-30AD-4682-BFC2-7F807B81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19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合成演练画面，非真实 NBA 比赛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1b6b0f9094b3e"/>
          <a:srcRect xmlns:a="http://schemas.openxmlformats.org/drawingml/2006/main" l="140" t="0" r="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1333500"/>
            <a:ext cx="7477125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98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9A467-C5EE-415E-8019-81DF7FE3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赛题目标与评分结构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CA159-19CB-4E58-B908-42A204D6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482E9-BE13-4461-AE04-9AE07B9E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3733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内容观感与证据准确度</a:t>
            </a:r>
          </a:p>
          <a:p xmlns:a="http://schemas.openxmlformats.org/drawingml/2006/main">
            <a:pPr algn="l">
              <a:defRPr sz="22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占人工评分的核心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5CF94-512C-4856-B648-C077ECF1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机器评分看可运行与合规。</a:t>
            </a:r>
          </a:p>
          <a:p xmlns:a="http://schemas.openxmlformats.org/drawingml/2006/main">
            <a:pPr algn="l">
              <a:defRPr sz="157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现场 10 分来自问答 4 分和投篮 6 分。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714875" y="1504950"/>
          <a:ext xmlns:a="http://schemas.openxmlformats.org/drawingml/2006/main" cx="66675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1d74642284454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08FE3-BB2A-4B79-AC29-0EA2BE9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4782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现场参与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D34AD-2837-4A5C-8750-531DFCA8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7177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机器评分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0A6F8-A8C8-4E12-869D-5B6E68F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9572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人工评分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E7D9E-25B8-4C23-828D-37950FB8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培训摘要整理的分值结构，非已获得分数</a:t>
            </a:r>
          </a:p>
        </p:txBody>
      </p:sp>
    </p:spTree>
    <p:extLst>
      <p:ext uri="{BB962C8B-B14F-4D97-AF65-F5344CB8AC3E}">
        <p14:creationId xmlns:p14="http://schemas.microsoft.com/office/powerpoint/2010/main" val="276484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DC00-3FBA-4EF4-9802-B47905D6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四步制作：让画面先于解说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2A497-E62C-4F6C-A68E-4B19072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16D1A-19F4-45D7-BC76-B9194384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9E66F-64EE-46A3-881C-B1E72015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5430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选片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CB6E1-4BDF-4988-8B73-5B465DD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335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来源与授权随视频保存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7AE18-7BD8-41B0-AFBA-53CEF11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EE0F1-DBCE-4FAF-85F4-FBA2039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098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看懂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EC286-12D1-4CB3-A564-F1E084AB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真实抽帧；人工确认观察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F8F48-C4FE-439B-93ED-69DD6B7F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37231-489C-48D5-A29B-FF419BA7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讲清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F1196-D09B-4FD9-8007-27C7366C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最多三段；同秒草稿预览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28038-6D11-44EC-98C3-A9334729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00E72-7D57-4368-9A0A-73A63457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43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出片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EC641-4EBC-4FD2-B86D-F02D3D7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33975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人工审核后生成真实 MP4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51d8b033d4f21"/>
          <a:srcRect xmlns:a="http://schemas.openxmlformats.org/drawingml/2006/main" l="243" t="0" r="2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0950" y="1571625"/>
            <a:ext cx="78105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51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290BE-F082-42BF-A145-7000793C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八秒合成演练：源时钟贯穿成片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889A0-CD5C-4EC8-AC23-F4D9459C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E63C9-1462-470B-AF9A-1911590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源片 0–8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B6451-AF5E-4C90-AD0A-409E0D1A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92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7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B2B60-D067-4F71-BC6E-A5FEEF7C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92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EA54B-FC2E-44EE-AAFF-4A2E385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7125-9F88-40B2-87EB-03088171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19716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92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87397-FB90-41BE-A264-D23C4CBB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14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DA541-67EA-4C85-BAA5-61FFFEA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716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9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DB37-1C71-47A1-AB5A-B4B5D55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4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62E66-02E9-4680-9970-E65DB0B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19716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92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33C6E-5567-438A-BC4E-42AC3AC0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463" y="214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CE749-E9E3-4B49-8BC7-23039B9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716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92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6D03F-D7FA-45DD-9BDB-8D94B067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B4196-B078-46C2-9DFB-2B78D420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628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人工观察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08D92-F44B-4796-80B8-EB4F240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819" y="2714625"/>
            <a:ext cx="3702844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796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1A516-C013-40EC-B699-0CBBB45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622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1.0–6.0 秒 · 已接受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9022B-1A1D-411E-BB54-052ED03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628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字幕与章节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1A918-4EF9-411F-B94A-EB2D4A0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505200"/>
            <a:ext cx="29622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F98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083D0-409B-41A6-9FE1-63EFC947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52775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2.0–6.0 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C402A-69E6-4393-8DF6-6025F89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628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人工箭头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E3FA0-99AF-404F-AABD-54D2182A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4295775"/>
            <a:ext cx="740569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7EDBB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FBCFB-69C7-4C64-8214-500AAD3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33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2.0–3.0 秒 · 静音版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DE05B-8284-4367-A039-8E93BEF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628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中文配音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00777-AD0C-4B48-851E-A690BC44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5086350"/>
            <a:ext cx="1767398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EAA41-E3D3-4804-89CA-8652C96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33925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2.0 秒起，2.39 秒 · 配音版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475dc335e405a"/>
          <a:srcRect xmlns:a="http://schemas.openxmlformats.org/drawingml/2006/main" l="0" t="66" r="0" b="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2325" y="1628775"/>
            <a:ext cx="4333875" cy="270510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cf4022d84812"/>
          <a:srcRect xmlns:a="http://schemas.openxmlformats.org/drawingml/2006/main" l="0" t="83" r="0" b="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3825" y="4438650"/>
            <a:ext cx="3171825" cy="17811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37CB3-5A9C-45DF-BE8F-CA27B98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同一故事的两次发布：箭头见静音版，语音见配音版；配音版未烧录箭头</a:t>
            </a:r>
          </a:p>
        </p:txBody>
      </p:sp>
    </p:spTree>
    <p:extLst>
      <p:ext uri="{BB962C8B-B14F-4D97-AF65-F5344CB8AC3E}">
        <p14:creationId xmlns:p14="http://schemas.microsoft.com/office/powerpoint/2010/main" val="2069585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29824-28C3-4A2E-98FD-588A0C7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官方事件绑定与错误数字拦截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FBCAB-58B0-4AC7-B259-29B23571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9B141-552A-486D-BF34-4ABD28A0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9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只有同场、同人、同次出手且时窗有效的记录，才能进入解说。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24720-D121-4D48-9DE7-9DA8674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7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34C6A-E32D-4E44-BE83-C88D020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同场球员与出手对应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D6A8E-8BA9-47CD-838F-B7BC6D7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EDBB4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7EDBB4"/>
                </a:solidFill>
                <a:latin typeface="STHeiti"/>
                <a:ea typeface="STHeiti"/>
                <a:cs typeface="STHeiti"/>
              </a:rPr>
              <a:t>可绑定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E17D3-5EF2-4A2A-9900-E81E815A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人工确认后才可引用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1EA9-F2C0-4CD7-A5B2-E844CFCB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7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3654C-F2CA-485E-8F36-F44177D7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人物／比赛／出手不符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CAECB-F59D-4234-BD7D-92751C47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70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拒绝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9ED68-2F91-4BF8-9530-FE5766CB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670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对象映射错误即停止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28BE4-E383-492F-A157-84734B2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7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7A414-A199-4828-BCDA-82824819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赛季汇总当单次回合指标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D97F5-9FCE-4479-95D2-3DCC728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243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拒绝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77B74-0E72-4F68-A4C1-734E6125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243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统计粒度不能偷换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D0804-8423-44B3-814C-7F7E0E0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7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55437-2B14-41AF-91AF-AA37062C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未绑定数字与过期 Gravity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D6B98-31E9-4A96-B049-F761708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815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拒绝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04803-6640-4344-931A-BCCB4F03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815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无来源或时窗已过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0963B-4615-4CB7-824F-E85737B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示例是规则验收结果，不是官方 NBA 指标或模型识别率</a:t>
            </a:r>
          </a:p>
        </p:txBody>
      </p:sp>
    </p:spTree>
    <p:extLst>
      <p:ext uri="{BB962C8B-B14F-4D97-AF65-F5344CB8AC3E}">
        <p14:creationId xmlns:p14="http://schemas.microsoft.com/office/powerpoint/2010/main" val="2040845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C4A724-1C70-4BD0-8818-EA2A5AF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云端交付架构与验收边界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90BA3-F448-4984-84B7-8A5C0291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9288D-7786-4235-9D07-73866C74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公开观赛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091DD-AE92-494C-A517-9B06E64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登录制作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97D74-B666-43CE-B498-3FD5BBF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57300"/>
            <a:ext cx="2057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9E4B4-AC82-4B67-BBA1-1DC1E7CC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3239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CloudFront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公开成片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F1C23-C4AF-4844-91F6-85F67379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57300"/>
            <a:ext cx="201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04E2B-5DAA-4BAA-B768-2A476C49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2397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私有 S3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发布文件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E175D-18C3-4109-86A3-C78E2517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8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1C2C5-BEF6-4613-9F4B-6FB2B49D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71625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8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128F1-A8C2-4834-85B2-D6C8945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9335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66B62-9007-43D3-864E-597FE2E9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Cognito + PKCE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AEE2E-8A73-482B-BAE6-0B6D684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1981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BA02E-1EB6-4151-B647-2CDB4589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338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API Gateway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Lambda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AD7F0-97AD-4C7D-A7D6-48AC965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67175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C3E8B-6041-4683-983D-7EDA23D5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338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DynamoDB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修订指针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5A978-69C0-4D3D-A27D-5EA56368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67175"/>
            <a:ext cx="20669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EAE48-04B1-40D4-A7F0-29D14A3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33850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私有 S3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源片 / 快照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68F88-32D8-488A-95B0-0DE4667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00550"/>
            <a:ext cx="752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9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F66C9-8636-4D46-AC28-FE5F350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4340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96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0DBC7-4024-4ED3-9821-93D30B77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0055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9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59DD9-6222-4FEE-A274-733F2A4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96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125F5-E269-42D9-B22F-B8903AAF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005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96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D5CEB-8972-41B2-BA59-8D75D921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4340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96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F8451-F5E1-4881-9AAC-B4E50C48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86375"/>
            <a:ext cx="1962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49D4C-4E20-4AEA-A817-5DCF102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530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Step Functions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任务编排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A621D-699E-4503-825A-6828A07B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86375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7859E-E1D6-4CFD-926F-4FEB491B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Fargate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取帧 / 成片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0D3A5-8A2E-42A5-A9F7-7E9BEE8E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86375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65D"/>
          </a:solidFill>
          <a:ln xmlns:a="http://schemas.openxmlformats.org/drawingml/2006/main" w="9525">
            <a:solidFill>
              <a:srgbClr val="35577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44118-5470-4671-A889-E33B1E1D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53050"/>
            <a:ext cx="18954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Agent 服务</a:t>
            </a:r>
          </a:p>
          <a:p xmlns:a="http://schemas.openxmlformats.org/drawingml/2006/main">
            <a:pPr algn="ctr">
              <a:defRPr sz="14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模型提案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BDF95-0A38-4C8B-A656-1584A86E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96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A0E10-B59A-4A1D-8E44-43764EF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62600"/>
            <a:ext cx="1143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96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52E94B-9E16-4BE1-B8DB-5E77322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626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模型提案分支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B0765-CAD1-4BD2-A7DA-0F0E7237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392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96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73A569-CC21-4B60-9E58-70C18CA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CDK 离线合成已通过；真实 AWS 部署、模型调用与容器运行待赛方环境验收</a:t>
            </a:r>
          </a:p>
        </p:txBody>
      </p:sp>
    </p:spTree>
    <p:extLst>
      <p:ext uri="{BB962C8B-B14F-4D97-AF65-F5344CB8AC3E}">
        <p14:creationId xmlns:p14="http://schemas.microsoft.com/office/powerpoint/2010/main" val="192793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11DC5-9D83-48CA-AA88-0B43F4C1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本地已验证的制作与观赛闭环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9FFAB-2744-4334-840D-7DC262A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21d2284164ecd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09725"/>
            <a:ext cx="6934200" cy="434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42C59-53CA-4648-9015-FDE7B81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345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23B3F-5F66-490F-AB96-FA886C3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66875"/>
            <a:ext cx="236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浏览器流程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17F63-DCA9-4FE1-8ECF-AB905AE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03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796FF"/>
                </a:solidFill>
                <a:latin typeface="STHeiti"/>
                <a:ea typeface="STHeiti"/>
                <a:cs typeface="STHeiti"/>
              </a:defRPr>
            </a:pPr>
            <a:r>
              <a:rPr sz="3450" b="1">
                <a:solidFill>
                  <a:srgbClr val="4796FF"/>
                </a:solidFill>
                <a:latin typeface="STHeiti"/>
                <a:ea typeface="STHeiti"/>
                <a:cs typeface="STHeit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B1259-5090-45EE-ACE1-BA14FDED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05075"/>
            <a:ext cx="236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后端黑盒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E6303-3761-40ED-8680-D6F2ECD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796FF"/>
                </a:solidFill>
                <a:latin typeface="STHeiti"/>
                <a:ea typeface="STHeiti"/>
                <a:cs typeface="STHeiti"/>
              </a:defRPr>
            </a:pPr>
            <a:r>
              <a:rPr sz="3450" b="1">
                <a:solidFill>
                  <a:srgbClr val="4796FF"/>
                </a:solidFill>
                <a:latin typeface="STHeiti"/>
                <a:ea typeface="STHeiti"/>
                <a:cs typeface="STHeit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A6BA8-46F3-44A2-A98F-CCAF5B9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43275"/>
            <a:ext cx="236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指标绑定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6F7AF-5529-48F0-8102-CF02BF1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796FF"/>
                </a:solidFill>
                <a:latin typeface="STHeiti"/>
                <a:ea typeface="STHeiti"/>
                <a:cs typeface="STHeiti"/>
              </a:defRPr>
            </a:pPr>
            <a:r>
              <a:rPr sz="3450" b="1">
                <a:solidFill>
                  <a:srgbClr val="4796FF"/>
                </a:solidFill>
                <a:latin typeface="STHeiti"/>
                <a:ea typeface="STHeiti"/>
                <a:cs typeface="STHeiti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55C5D-BFF3-4728-B547-5A2B2CC8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81475"/>
            <a:ext cx="236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语音出片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B5164-3A1F-4B38-ACFA-53D23C11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796FF"/>
                </a:solidFill>
                <a:latin typeface="STHeiti"/>
                <a:ea typeface="STHeiti"/>
                <a:cs typeface="STHeiti"/>
              </a:defRPr>
            </a:pPr>
            <a:r>
              <a:rPr sz="3450" b="1">
                <a:solidFill>
                  <a:srgbClr val="4796FF"/>
                </a:solidFill>
                <a:latin typeface="STHeiti"/>
                <a:ea typeface="STHeiti"/>
                <a:cs typeface="STHeiti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58B85-BC40-48BD-ADB7-7397C154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19675"/>
            <a:ext cx="2362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攻击输入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926EA-63D5-441F-B7FF-0BD0AD98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DD6"/>
                </a:solidFill>
                <a:latin typeface="STHeiti"/>
                <a:ea typeface="STHeiti"/>
                <a:cs typeface="STHeiti"/>
              </a:defRPr>
            </a:pPr>
            <a:r>
              <a:rPr sz="1125" b="0">
                <a:solidFill>
                  <a:srgbClr val="A6BDD6"/>
                </a:solidFill>
                <a:latin typeface="STHeiti"/>
                <a:ea typeface="STHeiti"/>
                <a:cs typeface="STHeiti"/>
              </a:rPr>
              <a:t>独立定向验收项数，均已通过；不是模型识别准确率</a:t>
            </a:r>
          </a:p>
        </p:txBody>
      </p:sp>
    </p:spTree>
    <p:extLst>
      <p:ext uri="{BB962C8B-B14F-4D97-AF65-F5344CB8AC3E}">
        <p14:creationId xmlns:p14="http://schemas.microsoft.com/office/powerpoint/2010/main" val="618730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3CC70-426E-400F-8C63-23F8CA0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现场演示与交付边界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B4EA7-26E3-4C05-A54A-FDEEFDF9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592AE"/>
                </a:solidFill>
                <a:latin typeface="STHeiti"/>
                <a:ea typeface="STHeiti"/>
                <a:cs typeface="STHeiti"/>
              </a:defRPr>
            </a:pPr>
            <a:r>
              <a:rPr sz="1125" b="1">
                <a:solidFill>
                  <a:srgbClr val="7592AE"/>
                </a:solidFill>
                <a:latin typeface="STHeiti"/>
                <a:ea typeface="STHeiti"/>
                <a:cs typeface="STHeit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A68B8-F916-499F-8962-78F493E4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一段素材，现场跑完整条链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97CF0-1BE2-42B5-9C57-0E68ABB2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E4B1E-B635-4EA6-BED1-CEF5CFB5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642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上传合成演练片，确认来源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78E70-7892-4547-AF4F-A9E610E8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89197-3557-4D2B-84DB-361FD6D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9925"/>
            <a:ext cx="642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取证并核对动作，预览箭头与解说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6786-CC15-44D6-BC94-FB7766E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43739-78A9-46C7-81E8-F4BBFA8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642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AFF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F7FAFF"/>
                </a:solidFill>
                <a:latin typeface="STHeiti"/>
                <a:ea typeface="STHeiti"/>
                <a:cs typeface="STHeiti"/>
              </a:rPr>
              <a:t>审核，导出，打开独立观赛页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94F4-2345-48EA-A23F-1D7469C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7800"/>
            <a:ext cx="7019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7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8C1B5-D69F-4E44-A7EB-AC49E1FA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71342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985B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FF985B"/>
                </a:solidFill>
                <a:latin typeface="STHeiti"/>
                <a:ea typeface="STHeiti"/>
                <a:cs typeface="STHeiti"/>
              </a:rPr>
              <a:t>正式 AWS、官方视频、指定 Agent 服务与真实模型调用仍待赛方资源验收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99ee0b9284c9b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666750"/>
            <a:ext cx="2324100" cy="5972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1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2026-09-30T02:37:46.3550000Z</dcterms:created>
  <dcterms:modified xsi:type="dcterms:W3CDTF">2026-09-30T02:37:46.3550000Z</dcterms:modified>
</coreProperties>
</file>