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db738712dd46ee" /><Relationship Type="http://schemas.openxmlformats.org/officeDocument/2006/relationships/extended-properties" Target="/docProps/app.xml" Id="R3ba4d686d1f6411e" /><Relationship Type="http://schemas.openxmlformats.org/officeDocument/2006/relationships/officeDocument" Target="/ppt/presentation.xml" Id="R8505eb229fbf4b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027470bead4b8d"/>
  </p:sldMasterIdLst>
  <p:notesMasterIdLst>
    <p:notesMasterId xmlns:r="http://schemas.openxmlformats.org/officeDocument/2006/relationships" r:id="R536259664c244c56"/>
  </p:notesMasterIdLst>
  <p:sldIdLst>
    <p:sldId xmlns:r="http://schemas.openxmlformats.org/officeDocument/2006/relationships" id="256" r:id="R56612cf02acf4bc0"/>
    <p:sldId xmlns:r="http://schemas.openxmlformats.org/officeDocument/2006/relationships" id="257" r:id="Rb20cb4d4c98449e1"/>
    <p:sldId xmlns:r="http://schemas.openxmlformats.org/officeDocument/2006/relationships" id="258" r:id="R7dd3d774df654412"/>
    <p:sldId xmlns:r="http://schemas.openxmlformats.org/officeDocument/2006/relationships" id="259" r:id="R558e4e8865ea40c8"/>
    <p:sldId xmlns:r="http://schemas.openxmlformats.org/officeDocument/2006/relationships" id="260" r:id="Race47fba47be409d"/>
    <p:sldId xmlns:r="http://schemas.openxmlformats.org/officeDocument/2006/relationships" id="261" r:id="Rbf6b366c7168475a"/>
    <p:sldId xmlns:r="http://schemas.openxmlformats.org/officeDocument/2006/relationships" id="262" r:id="Rf82429d9633146e5"/>
    <p:sldId xmlns:r="http://schemas.openxmlformats.org/officeDocument/2006/relationships" id="263" r:id="R9478049d295741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2639a7fcaa4ebb" /><Relationship Type="http://schemas.openxmlformats.org/officeDocument/2006/relationships/slideMaster" Target="/ppt/slideMasters/slideMaster1.xml" Id="Rbc027470bead4b8d" /><Relationship Type="http://schemas.openxmlformats.org/officeDocument/2006/relationships/notesMaster" Target="/ppt/notesMasters/notesMaster1.xml" Id="R536259664c244c56" /><Relationship Type="http://schemas.openxmlformats.org/officeDocument/2006/relationships/presProps" Target="/ppt/presProps.xml" Id="Ra433d8fc616b40f8" /><Relationship Type="http://schemas.openxmlformats.org/officeDocument/2006/relationships/tableStyles" Target="/ppt/tableStyles.xml" Id="R4bb5eb0d578549d3" /><Relationship Type="http://schemas.openxmlformats.org/officeDocument/2006/relationships/slide" Target="/ppt/slides/slide1.xml" Id="R56612cf02acf4bc0" /><Relationship Type="http://schemas.openxmlformats.org/officeDocument/2006/relationships/slide" Target="/ppt/slides/slide2.xml" Id="Rb20cb4d4c98449e1" /><Relationship Type="http://schemas.openxmlformats.org/officeDocument/2006/relationships/slide" Target="/ppt/slides/slide3.xml" Id="R7dd3d774df654412" /><Relationship Type="http://schemas.openxmlformats.org/officeDocument/2006/relationships/slide" Target="/ppt/slides/slide4.xml" Id="R558e4e8865ea40c8" /><Relationship Type="http://schemas.openxmlformats.org/officeDocument/2006/relationships/slide" Target="/ppt/slides/slide5.xml" Id="Race47fba47be409d" /><Relationship Type="http://schemas.openxmlformats.org/officeDocument/2006/relationships/slide" Target="/ppt/slides/slide6.xml" Id="Rbf6b366c7168475a" /><Relationship Type="http://schemas.openxmlformats.org/officeDocument/2006/relationships/slide" Target="/ppt/slides/slide7.xml" Id="Rf82429d9633146e5" /><Relationship Type="http://schemas.openxmlformats.org/officeDocument/2006/relationships/slide" Target="/ppt/slides/slide8.xml" Id="R9478049d295741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29d01fbbc54f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1cc85cdeb64cb9" /><Relationship Type="http://schemas.openxmlformats.org/officeDocument/2006/relationships/notesMaster" Target="/ppt/notesMasters/notesMaster1.xml" Id="R65fec849a19b4f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5598dbc6924d5f" /><Relationship Type="http://schemas.openxmlformats.org/officeDocument/2006/relationships/notesMaster" Target="/ppt/notesMasters/notesMaster1.xml" Id="Rea01a03a4a6647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cbb9f629374959" /><Relationship Type="http://schemas.openxmlformats.org/officeDocument/2006/relationships/notesMaster" Target="/ppt/notesMasters/notesMaster1.xml" Id="Rfbd9df092edd4c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a5814645c24be7" /><Relationship Type="http://schemas.openxmlformats.org/officeDocument/2006/relationships/notesMaster" Target="/ppt/notesMasters/notesMaster1.xml" Id="Rb0271fc4e7ea4f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9953c0ab8d4ea0" /><Relationship Type="http://schemas.openxmlformats.org/officeDocument/2006/relationships/notesMaster" Target="/ppt/notesMasters/notesMaster1.xml" Id="Rdb6d16786a2d448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3d2e6768274c01" /><Relationship Type="http://schemas.openxmlformats.org/officeDocument/2006/relationships/notesMaster" Target="/ppt/notesMasters/notesMaster1.xml" Id="Ra68104463ba942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11a7e48cd74b23" /><Relationship Type="http://schemas.openxmlformats.org/officeDocument/2006/relationships/notesMaster" Target="/ppt/notesMasters/notesMaster1.xml" Id="Rbc7091ee74734a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6aaa870af64a50" /><Relationship Type="http://schemas.openxmlformats.org/officeDocument/2006/relationships/notesMaster" Target="/ppt/notesMasters/notesMaster1.xml" Id="R8d4573ed7c554d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NBA官方YouTube: https://www.youtube.com/watch?v=HjzSVTdTM8M 。2025-01-01 DAL@HOU集锦前48秒，是带剪辑的技术验证片，不是赛方训练素材，未确认公开传播许可。原片仅保存在本地，不放GitHub。封面画面取源片19.6秒。复核身份为AI，不是人类签核。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NBA官方YouTube: https://www.youtube.com/watch?v=HjzSVTdTM8M 。2025-01-01 DAL@HOU集锦前48秒，是带剪辑的技术验证片，不是赛方训练素材，未确认公开传播许可。原片仅保存在本地，不放GitHub。18.4、20.8、42.4秒真实源帧。人物由AI源帧复核与当场22人名单交叉对应，不是RF-DETR自动实名。主项目revision11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NBA官方YouTube: https://www.youtube.com/watch?v=HjzSVTdTM8M 。2025-01-01 DAL@HOU集锦前48秒，是带剪辑的技术验证片，不是赛方训练素材，未确认公开传播许可。原片仅保存在本地，不放GitHub。RF-DETR社区篮球Nano固定commit46c33088c790670a7e81e21e753fa368b2d77a70；https://huggingface.co/koppolusameer/rfdetr-basketball-player-ball-referee-detection 。实际记录见docs/Broadcast-CV-实测.md。单次测量240帧34.9秒，不是延迟SLA。号码定向探测6张裁图2对2错2不可读，重复球员样本，不能估计总体准确率。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NBA官方YouTube: https://www.youtube.com/watch?v=HjzSVTdTM8M 。2025-01-01 DAL@HOU集锦前48秒，是带剪辑的技术验证片，不是赛方训练素材，未确认公开传播许可。原片仅保存在本地，不放GitHub。实际发布9752829423b04928aaf8c4da0e55b24f/manifest.json voiceReport，StepFun stepaudio-2.5-tts通用音色elegantgentle-female。三cue出点均早于窗口结束，tempo1.0，tailTruncated:false。图中数值来自实际音频测量而非计划。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战术依据：FIBA术语 https://assets.fiba.basketball/image/upload/documents-corporate-regional-offices-europe-programs-fiba-europe-coaching-certificate-fiba-europe-basketball-terminology.pdf ，Jr.NBA https://jr.nba.com/video/fundamentals-of-the-drive-and-kick/ ，WABC Level3§2.1.4 https://assets.fiba.basketball/image/upload/documents-corporate-wabc-coaching-manual-level-3-eng.pdf 。条件是本项目规则设计，尚非经过准确率评估的战术分类器。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研究参考：Mike Breen，ESPN2024总决赛团队访谈 https://espnpressroom.com/us/press-releases/2024/06/transcript-espn-nba-finals-broadcast-team-media-conference-call/amp/ ；于嘉，https://news.cctv.com/2026/02/23/ARTIlUfCiiColDlkvcaRH1n3260223.shtml （冬奥工作经验用于表达方法）；张丕德《说篮高手》出版社试读 https://www.wanlibk.com/readers/preread/9789621473912.pdf 。三句均为本项目原创，不是名人原话或音色。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比赛来源为用户提供的官网正文与赛前培训摘要，未见必须实时流式推理的要求。2K官方 https://newsroom-uk.2k.com/news/latest-presentation-enhancements-bring-lifelike-atmosphere-and-authenticity-to-nbar-2k26 介绍末段解说强度变化，未公开内部调度算法。本页为本项目技术设计，非复现2K实现。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来源：本仓库infra和cloud目录，docs/Broadcast-AWS部署.md。AWS账户未分配，区域、Agent服务和模型权限待确认。CDK离线检查不等于云端验收。Polly适配为可选，尚无真实AWS合成。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3982cf901b4c1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3dfd7003042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4d88d9e64245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12d1e9ef2c4f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ac02092ee459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f089ce2e54d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CE17A2-D4C8-4E50-AABE-B3B6D2AEEE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3EDD069-4E3B-4521-9258-12029C53A1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794B105-9E3C-4674-922C-0F68D7D110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C18679-3E8D-42E5-B3C9-7D2F8D65B6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2090D7-6FED-4BBA-A9BA-8730E562B5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E17622-5115-453E-BF01-45EA3A647B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ADE5A9-D826-4D4C-85EC-6E4384E4F1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B940142-6EB3-48F1-AEBD-EC18D9A411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8D45D3-D8E0-41EE-8E62-D085C90A82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C5B9912-FEC2-4233-BB7C-6F76525BCC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0d61f839cc4954" /><Relationship Type="http://schemas.openxmlformats.org/officeDocument/2006/relationships/slideLayout" Target="/ppt/slideLayouts/slideLayout1.xml" Id="R6d0afb40963145bb" /><Relationship Type="http://schemas.openxmlformats.org/officeDocument/2006/relationships/slideLayout" Target="/ppt/slideLayouts/slideLayout2.xml" Id="R26bfc46e5e67451b" /><Relationship Type="http://schemas.openxmlformats.org/officeDocument/2006/relationships/slideLayout" Target="/ppt/slideLayouts/slideLayout3.xml" Id="Rbf7e3243c8ba4bcc" /><Relationship Type="http://schemas.openxmlformats.org/officeDocument/2006/relationships/slideLayout" Target="/ppt/slideLayouts/slideLayout4.xml" Id="Raab48d80a93b4c11" /><Relationship Type="http://schemas.openxmlformats.org/officeDocument/2006/relationships/slideLayout" Target="/ppt/slideLayouts/slideLayout5.xml" Id="Rfa02501a98cb4c61" /><Relationship Type="http://schemas.openxmlformats.org/officeDocument/2006/relationships/slideLayout" Target="/ppt/slideLayouts/slideLayout6.xml" Id="R01c70375681741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0afb40963145bb"/>
    <p:sldLayoutId xmlns:r="http://schemas.openxmlformats.org/officeDocument/2006/relationships" id="2147483650" r:id="R26bfc46e5e67451b"/>
    <p:sldLayoutId xmlns:r="http://schemas.openxmlformats.org/officeDocument/2006/relationships" id="2147483651" r:id="Rbf7e3243c8ba4bcc"/>
    <p:sldLayoutId xmlns:r="http://schemas.openxmlformats.org/officeDocument/2006/relationships" id="2147483652" r:id="Raab48d80a93b4c11"/>
    <p:sldLayoutId xmlns:r="http://schemas.openxmlformats.org/officeDocument/2006/relationships" id="2147483653" r:id="Rfa02501a98cb4c61"/>
    <p:sldLayoutId xmlns:r="http://schemas.openxmlformats.org/officeDocument/2006/relationships" id="2147483654" r:id="R01c70375681741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60b67988954510" /><Relationship Type="http://schemas.openxmlformats.org/officeDocument/2006/relationships/image" Target="/ppt/media/image.png" Id="R7f18ad4141454d34" /><Relationship Type="http://schemas.openxmlformats.org/officeDocument/2006/relationships/notesSlide" Target="/ppt/notesSlides/notesSlide1.xml" Id="R1e6d2957c96e41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9aabcc9642404b" /><Relationship Type="http://schemas.openxmlformats.org/officeDocument/2006/relationships/image" Target="/ppt/media/image2.png" Id="R14f37826f95942c7" /><Relationship Type="http://schemas.openxmlformats.org/officeDocument/2006/relationships/image" Target="/ppt/media/image3.png" Id="Rda6be852e6aa44d8" /><Relationship Type="http://schemas.openxmlformats.org/officeDocument/2006/relationships/image" Target="/ppt/media/image4.png" Id="R2a64931ae7894b59" /><Relationship Type="http://schemas.openxmlformats.org/officeDocument/2006/relationships/notesSlide" Target="/ppt/notesSlides/notesSlide2.xml" Id="R758a077b955443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8ed0725ef4786" /><Relationship Type="http://schemas.openxmlformats.org/officeDocument/2006/relationships/image" Target="/ppt/media/image5.png" Id="Rdfeb139b1bd9441d" /><Relationship Type="http://schemas.openxmlformats.org/officeDocument/2006/relationships/notesSlide" Target="/ppt/notesSlides/notesSlide3.xml" Id="R5d8e5ba3fb144e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11152bc15d4da7" /><Relationship Type="http://schemas.openxmlformats.org/officeDocument/2006/relationships/chart" Target="/ppt/slides/charts/chart1.xml" Id="R7f7d632129ea4c90" /><Relationship Type="http://schemas.openxmlformats.org/officeDocument/2006/relationships/notesSlide" Target="/ppt/notesSlides/notesSlide4.xml" Id="Re868f127a06e40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e3fe78c5cf4908" /><Relationship Type="http://schemas.openxmlformats.org/officeDocument/2006/relationships/notesSlide" Target="/ppt/notesSlides/notesSlide5.xml" Id="R7d744394387048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427b9363414a24" /><Relationship Type="http://schemas.openxmlformats.org/officeDocument/2006/relationships/notesSlide" Target="/ppt/notesSlides/notesSlide6.xml" Id="Rfc46ecc427fe4d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9652de3daa4264" /><Relationship Type="http://schemas.openxmlformats.org/officeDocument/2006/relationships/notesSlide" Target="/ppt/notesSlides/notesSlide7.xml" Id="R60147ef3a13a41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44fb47591483e" /><Relationship Type="http://schemas.openxmlformats.org/officeDocument/2006/relationships/notesSlide" Target="/ppt/notesSlides/notesSlide8.xml" Id="Re94617a17047457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可用画面窗 / 秒</c:v>
          </c:tx>
          <c:spPr>
            <a:solidFill xmlns:a="http://schemas.openxmlformats.org/drawingml/2006/main">
              <a:srgbClr val="6FADFF"/>
            </a:solidFill>
          </c:spPr>
          <c:cat>
            <c:strRef>
              <c:f>'Chart Data'!$A$2:$A$4</c:f>
              <c:strCache>
                <c:ptCount val="3"/>
                <c:pt idx="0">
                  <c:v>篮前跟进 20.8s起</c:v>
                </c:pt>
                <c:pt idx="1">
                  <c:v>补篮结果 24.8s起</c:v>
                </c:pt>
                <c:pt idx="2">
                  <c:v>掩护突破 42.4s起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4</c:v>
                </c:pt>
                <c:pt idx="1">
                  <c:v>4.4</c:v>
                </c:pt>
                <c:pt idx="2">
                  <c:v>4.4</c:v>
                </c:pt>
              </c:numCache>
            </c:numRef>
          </c:val>
        </c:ser>
        <c:ser>
          <c:idx val="1"/>
          <c:order val="1"/>
          <c:tx>
            <c:v>实测语音 / 秒</c:v>
          </c:tx>
          <c:spPr>
            <a:solidFill xmlns:a="http://schemas.openxmlformats.org/drawingml/2006/main">
              <a:srgbClr val="FF9900"/>
            </a:solidFill>
          </c:spPr>
          <c:cat>
            <c:strRef>
              <c:f>'Chart Data'!$C$2:$C$4</c:f>
              <c:strCache>
                <c:ptCount val="3"/>
                <c:pt idx="0">
                  <c:v>篮前跟进 20.8s起</c:v>
                </c:pt>
                <c:pt idx="1">
                  <c:v>补篮结果 24.8s起</c:v>
                </c:pt>
                <c:pt idx="2">
                  <c:v>掩护突破 42.4s起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3.21</c:v>
                </c:pt>
                <c:pt idx="1">
                  <c:v>3.69</c:v>
                </c:pt>
                <c:pt idx="2">
                  <c:v>3.16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F5F8FC"/>
                  </a:solidFill>
                  <a:latin typeface="STHeiti"/>
                  <a:ea typeface="STHeiti"/>
                  <a:cs typeface="STHeit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F5F8FC"/>
              </a:solidFill>
              <a:latin typeface="STHeiti"/>
              <a:ea typeface="STHeiti"/>
              <a:cs typeface="STHeit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284F2-2365-4916-8C00-C2E705F2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FF227-CF1F-4CF7-84BD-EFB6BD96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42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COURTLENS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942D8-E750-41B4-9592-AB689C00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8112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900"/>
                </a:solidFill>
                <a:latin typeface="STHeiti"/>
                <a:ea typeface="STHeiti"/>
                <a:cs typeface="STHeiti"/>
              </a:defRPr>
            </a:pPr>
            <a:r>
              <a:rPr sz="3300" b="1">
                <a:solidFill>
                  <a:srgbClr val="FF9900"/>
                </a:solidFill>
                <a:latin typeface="STHeiti"/>
                <a:ea typeface="STHeiti"/>
                <a:cs typeface="STHeiti"/>
              </a:rPr>
              <a:t>篮球技战术解说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8ad4141454d34"/>
          <a:stretch xmlns:a="http://schemas.openxmlformats.org/drawingml/2006/main"/>
        </p:blipFill>
        <p:spPr>
          <a:xfrm xmlns:a="http://schemas.openxmlformats.org/drawingml/2006/main">
            <a:off x="4829175" y="2165152"/>
            <a:ext cx="6762750" cy="380404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2CFAF-2C4F-40C5-880B-A0C9DADA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95575"/>
            <a:ext cx="404812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36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看清动作</a:t>
            </a:r>
          </a:p>
          <a:p xmlns:a="http://schemas.openxmlformats.org/drawingml/2006/main">
            <a:pPr>
              <a:defRPr sz="36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36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讲出选择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A5AC3-A9E7-40B5-9926-A14CBD27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真实比赛验证版</a:t>
            </a:r>
          </a:p>
          <a:p xmlns:a="http://schemas.openxmlformats.org/drawingml/2006/main">
            <a:pPr>
              <a:defRPr sz="1875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2026.09.30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13058-A34D-46E4-9BCD-2F0F18D8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基于公开比赛片段的内部验证。官方比赛视频、深度数据与 AWS 账户尚未下发。</a:t>
            </a:r>
          </a:p>
        </p:txBody>
      </p:sp>
    </p:spTree>
    <p:extLst>
      <p:ext uri="{BB962C8B-B14F-4D97-AF65-F5344CB8AC3E}">
        <p14:creationId xmlns:p14="http://schemas.microsoft.com/office/powerpoint/2010/main" val="883915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594DA6-C0CD-4EB5-A5DF-9277525D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真实回合中的动作与身份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B9F5E-0271-45FA-BA30-F3600DA1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02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37826f95942c7"/>
          <a:stretch xmlns:a="http://schemas.openxmlformats.org/drawingml/2006/main"/>
        </p:blipFill>
        <p:spPr>
          <a:xfrm xmlns:a="http://schemas.openxmlformats.org/drawingml/2006/main">
            <a:off x="609600" y="1569541"/>
            <a:ext cx="3495675" cy="196631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025C1-7F33-46B2-BFDA-F9BE6AE5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900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F9900"/>
                </a:solidFill>
                <a:latin typeface="STHeiti"/>
                <a:ea typeface="STHeiti"/>
                <a:cs typeface="STHeiti"/>
              </a:rPr>
              <a:t>18.4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12516-0EF2-4AC1-89A7-28B54813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3495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华盛顿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B6BC7-D786-4E5B-A5F3-D73DD9D4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3495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白衣 25 号，底线出手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6be852e6aa44d8"/>
          <a:stretch xmlns:a="http://schemas.openxmlformats.org/drawingml/2006/main"/>
        </p:blipFill>
        <p:spPr>
          <a:xfrm xmlns:a="http://schemas.openxmlformats.org/drawingml/2006/main">
            <a:off x="4333875" y="1569541"/>
            <a:ext cx="3495675" cy="1966317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6DFEBA-71D7-4405-8C0F-792067B4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43325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900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F9900"/>
                </a:solidFill>
                <a:latin typeface="STHeiti"/>
                <a:ea typeface="STHeiti"/>
                <a:cs typeface="STHeiti"/>
              </a:rPr>
              <a:t>20.8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1EC3FF-58AD-4B22-A2DA-819043C9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19575"/>
            <a:ext cx="3495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莱夫利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5314F-2485-4643-B00B-74A7CD37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00600"/>
            <a:ext cx="3495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白衣 2 号，篮前跟进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4931ae7894b59"/>
          <a:stretch xmlns:a="http://schemas.openxmlformats.org/drawingml/2006/main"/>
        </p:blipFill>
        <p:spPr>
          <a:xfrm xmlns:a="http://schemas.openxmlformats.org/drawingml/2006/main">
            <a:off x="8058150" y="1569541"/>
            <a:ext cx="3495675" cy="1966317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DCEA5E-C196-4E97-9213-5AC7EC6E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43325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9900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F9900"/>
                </a:solidFill>
                <a:latin typeface="STHeiti"/>
                <a:ea typeface="STHeiti"/>
                <a:cs typeface="STHeiti"/>
              </a:rPr>
              <a:t>42.4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317E4-8827-468A-BE72-A7873500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19575"/>
            <a:ext cx="3495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4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格林 / 申京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51247-5EA7-47B7-912A-4358DA91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00600"/>
            <a:ext cx="34956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红衣 4 / 28 号，掩护后切入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F46D06-9477-4438-B9DA-250A9AA1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名单和画面分别留证。球衣颜色、检测轨迹 ID 本身不能直接证明球员姓名。</a:t>
            </a:r>
          </a:p>
        </p:txBody>
      </p:sp>
    </p:spTree>
    <p:extLst>
      <p:ext uri="{BB962C8B-B14F-4D97-AF65-F5344CB8AC3E}">
        <p14:creationId xmlns:p14="http://schemas.microsoft.com/office/powerpoint/2010/main" val="6826132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10CD0-E5BA-4B1B-A84B-44AD6088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实际检测与识别边界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3C767-AE90-4482-9751-1BA50B9C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03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eb139b1bd9441d"/>
          <a:stretch xmlns:a="http://schemas.openxmlformats.org/drawingml/2006/main"/>
        </p:blipFill>
        <p:spPr>
          <a:xfrm xmlns:a="http://schemas.openxmlformats.org/drawingml/2006/main">
            <a:off x="609600" y="1518047"/>
            <a:ext cx="7658100" cy="4307681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C17DB5-A0DB-4F9E-9DC9-787F9E55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52575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6FADFF"/>
                </a:solidFill>
                <a:latin typeface="STHeiti"/>
                <a:ea typeface="STHeiti"/>
                <a:cs typeface="STHeiti"/>
              </a:defRPr>
            </a:pPr>
            <a:r>
              <a:rPr sz="3825" b="1">
                <a:solidFill>
                  <a:srgbClr val="6FADFF"/>
                </a:solidFill>
                <a:latin typeface="STHeiti"/>
                <a:ea typeface="STHeiti"/>
                <a:cs typeface="STHeiti"/>
              </a:rPr>
              <a:t>240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AB9E5-8077-416D-BEDB-7709EC56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真实取样帧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D778E-0194-4906-BE30-C7843F26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FF9900"/>
                </a:solidFill>
                <a:latin typeface="STHeiti"/>
                <a:ea typeface="STHeiti"/>
                <a:cs typeface="STHeiti"/>
              </a:defRPr>
            </a:pPr>
            <a:r>
              <a:rPr sz="3825" b="1">
                <a:solidFill>
                  <a:srgbClr val="FF9900"/>
                </a:solidFill>
                <a:latin typeface="STHeiti"/>
                <a:ea typeface="STHeiti"/>
                <a:cs typeface="STHeiti"/>
              </a:rPr>
              <a:t>34.9 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C1257-0FFF-4B33-9897-DCEF5D96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8617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本机单次推理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F9EEF6-E034-4483-A861-7334BA74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52925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6FADFF"/>
                </a:solidFill>
                <a:latin typeface="STHeiti"/>
                <a:ea typeface="STHeiti"/>
                <a:cs typeface="STHeiti"/>
              </a:defRPr>
            </a:pPr>
            <a:r>
              <a:rPr sz="3825" b="1">
                <a:solidFill>
                  <a:srgbClr val="6FADFF"/>
                </a:solidFill>
                <a:latin typeface="STHeiti"/>
                <a:ea typeface="STHeiti"/>
                <a:cs typeface="STHeiti"/>
              </a:rPr>
              <a:t>5 fps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104A8-FE5E-44C6-A059-E04A6ABE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086350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取样频率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E5215-5B97-4836-81A9-87BE9D14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有漏检、合并框及球误报。曾把 26 号读成 25 号，因此不启用自动实名。</a:t>
            </a:r>
          </a:p>
        </p:txBody>
      </p:sp>
    </p:spTree>
    <p:extLst>
      <p:ext uri="{BB962C8B-B14F-4D97-AF65-F5344CB8AC3E}">
        <p14:creationId xmlns:p14="http://schemas.microsoft.com/office/powerpoint/2010/main" val="125491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A8EF7-E2E9-44A0-B423-D7C2D6F3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声音完整落在画面时间窗内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FBCB5-8E36-4372-8621-7A02E3B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2D04E-D347-44B7-B6DD-FBCB36D7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668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210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三句真实合成语音，均未截尾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628650" y="2114550"/>
          <a:ext xmlns:a="http://schemas.openxmlformats.org/drawingml/2006/main" cx="10668000" cy="3495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7d632129ea4c90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F2332-F96B-427F-A04D-F5FA19E5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视频和音轨均为 48 秒。处理耗时与播放同步精度是不同指标。</a:t>
            </a:r>
          </a:p>
        </p:txBody>
      </p:sp>
    </p:spTree>
    <p:extLst>
      <p:ext uri="{BB962C8B-B14F-4D97-AF65-F5344CB8AC3E}">
        <p14:creationId xmlns:p14="http://schemas.microsoft.com/office/powerpoint/2010/main" val="1832199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969A2F-E129-4272-91F2-03B67613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战术知识先检索，再核对画面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E584D-B962-48E6-B9FC-1C84478D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A2C9A-5B2B-4ABE-9F03-49A58C70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430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900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FF9900"/>
                </a:solidFill>
                <a:latin typeface="STHeiti"/>
                <a:ea typeface="STHeiti"/>
                <a:cs typeface="STHeiti"/>
              </a:rPr>
              <a:t>术语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7270A-2B57-430E-94DD-715417BF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430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9900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FF9900"/>
                </a:solidFill>
                <a:latin typeface="STHeiti"/>
                <a:ea typeface="STHeiti"/>
                <a:cs typeface="STHeiti"/>
              </a:rPr>
              <a:t>需要的画面依据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296E9-04F7-4BA6-B84D-A59AECF7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2B8AE5-FBE7-4485-97FC-B6667B59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325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持球掩护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5895A-6A10-4391-937D-FC63B93D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33600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025" b="0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掩护者、持球人和掩护过程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0A72C-A8B2-4CF3-B5A9-556F1A771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193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不能直接推断已经顺下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07780-C447-4EB4-9739-92148C5F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E1C0B5-FE3C-462E-93FD-11D23A84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325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挡拆顺下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82C40-59C0-497A-BAA1-5615C04D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57550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025" b="0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先掩护，再看到同一人向篮下移动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265A8-8630-40EA-B84C-991A5830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4332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否定描述、跨镜头或顺序颠倒不成立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B5F87-1DB3-4B6E-9830-EBF0BAA1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A6D5F-1C18-4F97-98E4-1B116198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91025"/>
            <a:ext cx="230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325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三角进攻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8A517-76E2-4A2F-A9E3-35A5E321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025" b="0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五人结构、球的位置和后续传切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5234CC-4EEF-4EA5-944A-7718D659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672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725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三人围成三角形不能认定体系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D81A5E-F1AA-4CB8-B386-FF6D1FE7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球队与教练倾向按赛季和日期过滤，只影响检索顺序，不自动决定回合战术。</a:t>
            </a:r>
          </a:p>
        </p:txBody>
      </p:sp>
    </p:spTree>
    <p:extLst>
      <p:ext uri="{BB962C8B-B14F-4D97-AF65-F5344CB8AC3E}">
        <p14:creationId xmlns:p14="http://schemas.microsoft.com/office/powerpoint/2010/main" val="48810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4F1E0-62EC-4105-941F-02B8C120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三种原创解说表达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C3CB66-994F-4189-BAD8-306AA6E0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E14DA5-1961-4E17-8AC5-86387E6E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43050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9900"/>
                </a:solidFill>
                <a:latin typeface="STHeiti"/>
                <a:ea typeface="STHeiti"/>
                <a:cs typeface="STHeiti"/>
              </a:defRPr>
            </a:pPr>
            <a:r>
              <a:rPr sz="2325" b="1">
                <a:solidFill>
                  <a:srgbClr val="FF9900"/>
                </a:solidFill>
                <a:latin typeface="STHeiti"/>
                <a:ea typeface="STHeiti"/>
                <a:cs typeface="STHeiti"/>
              </a:rPr>
              <a:t>普通话技战术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E7496-3F83-4914-B2E0-C642A99D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85975"/>
            <a:ext cx="276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先动作，再解释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03B6E-D9CE-41B0-A958-70087632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1638300"/>
            <a:ext cx="75152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325" b="0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申京掩护，格林借势切入禁区。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1E60FB-FE68-4FDF-BDF3-0E650166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7622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2A2B1-80F6-431B-ADBC-F25A2F0E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62275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6FADFF"/>
                </a:solidFill>
                <a:latin typeface="STHeiti"/>
                <a:ea typeface="STHeiti"/>
                <a:cs typeface="STHeiti"/>
              </a:defRPr>
            </a:pPr>
            <a:r>
              <a:rPr sz="2325" b="1">
                <a:solidFill>
                  <a:srgbClr val="6FADFF"/>
                </a:solidFill>
                <a:latin typeface="STHeiti"/>
                <a:ea typeface="STHeiti"/>
                <a:cs typeface="STHeiti"/>
              </a:rPr>
              <a:t>英文现场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F08BC-386E-43F4-95D5-246897C2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05200"/>
            <a:ext cx="276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短句跟随动作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E759C-03B3-472D-8DF3-F535CD04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057525"/>
            <a:ext cx="75152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325" b="0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Green turns the corner off Sengun’s screen.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C4B93-9A0E-4697-B116-F5DB8743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814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AB1D0-665F-48A5-B1FA-7486F22D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381500"/>
            <a:ext cx="2952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6FADFF"/>
                </a:solidFill>
                <a:latin typeface="STHeiti"/>
                <a:ea typeface="STHeiti"/>
                <a:cs typeface="STHeiti"/>
              </a:defRPr>
            </a:pPr>
            <a:r>
              <a:rPr sz="2325" b="1">
                <a:solidFill>
                  <a:srgbClr val="6FADFF"/>
                </a:solidFill>
                <a:latin typeface="STHeiti"/>
                <a:ea typeface="STHeiti"/>
                <a:cs typeface="STHeiti"/>
              </a:rPr>
              <a:t>粤语讲波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F69899-A6C3-4656-8C6F-4E5FE64E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924425"/>
            <a:ext cx="276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80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口语描述配合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1E607-EAF6-48D9-9F4E-3AEB14E6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4476750"/>
            <a:ext cx="75152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325" b="0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申京上嚟做掩護，格連借勢切入。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A6F72-E6B5-417A-818C-A38185C9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英文和粤语先提供文本模式；对应配音尚未实测，不显示为已验证声音。</a:t>
            </a:r>
          </a:p>
        </p:txBody>
      </p:sp>
    </p:spTree>
    <p:extLst>
      <p:ext uri="{BB962C8B-B14F-4D97-AF65-F5344CB8AC3E}">
        <p14:creationId xmlns:p14="http://schemas.microsoft.com/office/powerpoint/2010/main" val="3616422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F77BE-BB86-410E-9DC1-861D7738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同步观赛的产品取舍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B7EDF-7545-475E-82D7-9DC7FB0C4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64C37-067E-4A7B-A8C2-A261090B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285875"/>
            <a:ext cx="1075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210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借鉴 NBA 2K 的节奏，让动作和信息一起推进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8DB71-2692-4E36-AC2E-07E95B9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5146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61210-57C1-4E0D-86CB-7C57BB6C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22098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已复核的事件</a:t>
            </a:r>
          </a:p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及官方数据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522F5-7C4A-4987-8367-2666843F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05050"/>
            <a:ext cx="26479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80D70D-FC31-423A-BA06-3EBCCD4E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81250"/>
            <a:ext cx="2343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视频源时钟</a:t>
            </a:r>
          </a:p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播放 / 暂停 / 回拖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9C5B8-F492-4101-B53E-77ECF7F3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6574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6F869-E378-4672-9794-BCFFF178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3526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当前标注</a:t>
            </a:r>
          </a:p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指标与解说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4E9FA-CDFD-426B-8631-199345AD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52725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90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B8E1C-7BCF-409F-9529-AE1B2C14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52725"/>
            <a:ext cx="1533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90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75DAD0-9BFD-4992-9A65-65576330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819525"/>
            <a:ext cx="200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9900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FF9900"/>
                </a:solidFill>
                <a:latin typeface="STHeiti"/>
                <a:ea typeface="STHeiti"/>
                <a:cs typeface="STHeiti"/>
              </a:rPr>
              <a:t>必须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DFEF77-0C98-4E72-BF26-306C269F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19525"/>
            <a:ext cx="8382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同刻更新，过期消失，拖动后重新计算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52BE2-8101-478D-BC84-84FEB315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591050"/>
            <a:ext cx="2000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FADFF"/>
                </a:solidFill>
                <a:latin typeface="STHeiti"/>
                <a:ea typeface="STHeiti"/>
                <a:cs typeface="STHeiti"/>
              </a:defRPr>
            </a:pPr>
            <a:r>
              <a:rPr sz="2250" b="1">
                <a:solidFill>
                  <a:srgbClr val="6FADFF"/>
                </a:solidFill>
                <a:latin typeface="STHeiti"/>
                <a:ea typeface="STHeiti"/>
                <a:cs typeface="STHeiti"/>
              </a:rPr>
              <a:t>可选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1125E-25A4-48F1-AAAF-4659247A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91050"/>
            <a:ext cx="8382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2100" b="0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证据充分时提供条件式战术提醒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3D6DB-0829-4E80-964F-FD1621E9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305425"/>
            <a:ext cx="21526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2100" b="1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后续研究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329CF8-8D8B-41C9-9D59-EC7D758C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76850"/>
            <a:ext cx="847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875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实时流边收边分析，需先测准确性与端到端延迟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2A565A-ACE9-45D8-AA79-E16D4194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本版采用预分析后同步播放。没有承诺零延迟，也不生成缺乏依据的胜负预警。</a:t>
            </a:r>
          </a:p>
        </p:txBody>
      </p:sp>
    </p:spTree>
    <p:extLst>
      <p:ext uri="{BB962C8B-B14F-4D97-AF65-F5344CB8AC3E}">
        <p14:creationId xmlns:p14="http://schemas.microsoft.com/office/powerpoint/2010/main" val="6617565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DDFC7-AE12-49F3-90C3-5C9DFF5A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AWS 交付架构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C18A8-DA57-41C7-9772-001590E1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EAAA3-9254-4CEE-BFE6-4840892D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2724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8DA37-C199-433F-933A-90CD91E8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33550"/>
            <a:ext cx="2419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CloudFront</a:t>
            </a:r>
          </a:p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观赛与制作入口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96682-9F49-4F9E-8875-5265E582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2724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5EB68-6ED2-4ACA-B0FF-481C838A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52800"/>
            <a:ext cx="2419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Cognito</a:t>
            </a:r>
          </a:p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登录制作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F9183-2B4C-482B-B0D5-C0360CC7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57350"/>
            <a:ext cx="3162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93D3DF-DF9C-4B62-B4D0-2DE4082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33550"/>
            <a:ext cx="285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私有 S3</a:t>
            </a:r>
          </a:p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视频与发布文件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3098E-05F5-4605-8D07-EB1410241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76600"/>
            <a:ext cx="26479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9B68EB-C6B0-4EE8-B5D5-05E5B78D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3528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API Gateway</a:t>
            </a:r>
          </a:p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Lambda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312038-0445-4589-9E40-CF9B9C82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76600"/>
            <a:ext cx="3162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136B7-0C5E-4BA9-B594-66249DF2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528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DynamoDB</a:t>
            </a:r>
          </a:p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修订与任务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ED0A1-9044-441C-ABC3-7A9016B6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95850"/>
            <a:ext cx="2724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6B3A3-2E32-4782-B199-3D2C156E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72050"/>
            <a:ext cx="2419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Agent 服务 + Bedrock</a:t>
            </a:r>
          </a:p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模型提案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C61A3A-C21A-49E3-8BF2-B5865341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95850"/>
            <a:ext cx="2647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73280-62ED-4956-AFAB-05C4E91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72050"/>
            <a:ext cx="2343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Step Functions</a:t>
            </a:r>
          </a:p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异步编排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EF22A-9430-4695-8DF8-5811308B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895850"/>
            <a:ext cx="3162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47"/>
          </a:solidFill>
          <a:ln xmlns:a="http://schemas.openxmlformats.org/drawingml/2006/main" w="9525">
            <a:solidFill>
              <a:srgbClr val="38526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30119-E5F2-42DF-BF6F-7CDF925B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7205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Fargate</a:t>
            </a:r>
          </a:p>
          <a:p xmlns:a="http://schemas.openxmlformats.org/drawingml/2006/main">
            <a:pPr>
              <a:defRPr sz="1800" b="1">
                <a:solidFill>
                  <a:srgbClr val="F5F8FC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5F8FC"/>
                </a:solidFill>
                <a:latin typeface="STHeiti"/>
                <a:ea typeface="STHeiti"/>
                <a:cs typeface="STHeiti"/>
              </a:rPr>
              <a:t>取帧与成片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94A03C-B0C7-4AEB-A1C7-0E311463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05025"/>
            <a:ext cx="5019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990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75347-6C66-4147-916A-8FB4A88C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667125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AD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D5251-A059-477A-B100-8A59A1B5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67125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AD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2CF934-B77E-482D-8100-AB30CEED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57650"/>
            <a:ext cx="0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FAD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23D307-470B-44EC-8C40-BC81BAE6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334000"/>
            <a:ext cx="1095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AD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AEA16A-18B0-43D5-B48F-C917BC43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334000"/>
            <a:ext cx="127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AD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EDC4D0-31E7-402E-8B32-B2DF56F9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6C7D9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B6C7D9"/>
                </a:solidFill>
                <a:latin typeface="STHeiti"/>
                <a:ea typeface="STHeiti"/>
                <a:cs typeface="STHeiti"/>
              </a:rPr>
              <a:t>一份 CDK 工程。赛方 AWS、指定 Agent 服务、CloudFront URL 及正式视频仍待现场验收。</a:t>
            </a:r>
          </a:p>
        </p:txBody>
      </p:sp>
    </p:spTree>
    <p:extLst>
      <p:ext uri="{BB962C8B-B14F-4D97-AF65-F5344CB8AC3E}">
        <p14:creationId xmlns:p14="http://schemas.microsoft.com/office/powerpoint/2010/main" val="17863039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2026-09-30T05:05:10.0500000Z</dcterms:created>
  <dcterms:modified xsi:type="dcterms:W3CDTF">2026-09-30T05:05:10.0500000Z</dcterms:modified>
</coreProperties>
</file>