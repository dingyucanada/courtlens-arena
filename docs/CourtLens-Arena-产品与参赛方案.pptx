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6719dcbe944079" /><Relationship Type="http://schemas.openxmlformats.org/officeDocument/2006/relationships/extended-properties" Target="/docProps/app.xml" Id="R7dd75abc48104d88" /><Relationship Type="http://schemas.openxmlformats.org/officeDocument/2006/relationships/officeDocument" Target="/ppt/presentation.xml" Id="Ra8b12fb6f1964e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12cb9aa16a45d5"/>
  </p:sldMasterIdLst>
  <p:notesMasterIdLst>
    <p:notesMasterId xmlns:r="http://schemas.openxmlformats.org/officeDocument/2006/relationships" r:id="Ra7a24c3cf7984d80"/>
  </p:notesMasterIdLst>
  <p:sldIdLst>
    <p:sldId xmlns:r="http://schemas.openxmlformats.org/officeDocument/2006/relationships" id="256" r:id="R40936c3bf7a44b59"/>
    <p:sldId xmlns:r="http://schemas.openxmlformats.org/officeDocument/2006/relationships" id="257" r:id="Rc9f5701335d04942"/>
    <p:sldId xmlns:r="http://schemas.openxmlformats.org/officeDocument/2006/relationships" id="258" r:id="R055a0abb63cc472c"/>
    <p:sldId xmlns:r="http://schemas.openxmlformats.org/officeDocument/2006/relationships" id="259" r:id="Re8f3af59332547b6"/>
    <p:sldId xmlns:r="http://schemas.openxmlformats.org/officeDocument/2006/relationships" id="260" r:id="Rc97e67cbcf134bb5"/>
    <p:sldId xmlns:r="http://schemas.openxmlformats.org/officeDocument/2006/relationships" id="261" r:id="R942b8bb494624b54"/>
    <p:sldId xmlns:r="http://schemas.openxmlformats.org/officeDocument/2006/relationships" id="262" r:id="R7765f009840b481a"/>
    <p:sldId xmlns:r="http://schemas.openxmlformats.org/officeDocument/2006/relationships" id="263" r:id="R781c056315cf4582"/>
    <p:sldId xmlns:r="http://schemas.openxmlformats.org/officeDocument/2006/relationships" id="264" r:id="Re52a3eee25864717"/>
    <p:sldId xmlns:r="http://schemas.openxmlformats.org/officeDocument/2006/relationships" id="265" r:id="Rea9902aa33f84a23"/>
    <p:sldId xmlns:r="http://schemas.openxmlformats.org/officeDocument/2006/relationships" id="266" r:id="Rfc1a6b24002740ac"/>
    <p:sldId xmlns:r="http://schemas.openxmlformats.org/officeDocument/2006/relationships" id="267" r:id="R2192547842ec4274"/>
    <p:sldId xmlns:r="http://schemas.openxmlformats.org/officeDocument/2006/relationships" id="268" r:id="R8df12201945f48e1"/>
    <p:sldId xmlns:r="http://schemas.openxmlformats.org/officeDocument/2006/relationships" id="269" r:id="Rdbd6e898016e4b1f"/>
    <p:sldId xmlns:r="http://schemas.openxmlformats.org/officeDocument/2006/relationships" id="270" r:id="R7558266cde714f12"/>
    <p:sldId xmlns:r="http://schemas.openxmlformats.org/officeDocument/2006/relationships" id="271" r:id="R5c9a81045f634d6e"/>
    <p:sldId xmlns:r="http://schemas.openxmlformats.org/officeDocument/2006/relationships" id="272" r:id="R3ba901a7b5a646c3"/>
    <p:sldId xmlns:r="http://schemas.openxmlformats.org/officeDocument/2006/relationships" id="273" r:id="R1cb9cf55c8c94d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bd31b270db440d" /><Relationship Type="http://schemas.openxmlformats.org/officeDocument/2006/relationships/slideMaster" Target="/ppt/slideMasters/slideMaster1.xml" Id="R3112cb9aa16a45d5" /><Relationship Type="http://schemas.openxmlformats.org/officeDocument/2006/relationships/notesMaster" Target="/ppt/notesMasters/notesMaster1.xml" Id="Ra7a24c3cf7984d80" /><Relationship Type="http://schemas.openxmlformats.org/officeDocument/2006/relationships/presProps" Target="/ppt/presProps.xml" Id="R0163c424e95140d4" /><Relationship Type="http://schemas.openxmlformats.org/officeDocument/2006/relationships/tableStyles" Target="/ppt/tableStyles.xml" Id="Ra90dc658c58e4ac1" /><Relationship Type="http://schemas.openxmlformats.org/officeDocument/2006/relationships/slide" Target="/ppt/slides/slide1.xml" Id="R40936c3bf7a44b59" /><Relationship Type="http://schemas.openxmlformats.org/officeDocument/2006/relationships/slide" Target="/ppt/slides/slide2.xml" Id="Rc9f5701335d04942" /><Relationship Type="http://schemas.openxmlformats.org/officeDocument/2006/relationships/slide" Target="/ppt/slides/slide3.xml" Id="R055a0abb63cc472c" /><Relationship Type="http://schemas.openxmlformats.org/officeDocument/2006/relationships/slide" Target="/ppt/slides/slide4.xml" Id="Re8f3af59332547b6" /><Relationship Type="http://schemas.openxmlformats.org/officeDocument/2006/relationships/slide" Target="/ppt/slides/slide5.xml" Id="Rc97e67cbcf134bb5" /><Relationship Type="http://schemas.openxmlformats.org/officeDocument/2006/relationships/slide" Target="/ppt/slides/slide6.xml" Id="R942b8bb494624b54" /><Relationship Type="http://schemas.openxmlformats.org/officeDocument/2006/relationships/slide" Target="/ppt/slides/slide7.xml" Id="R7765f009840b481a" /><Relationship Type="http://schemas.openxmlformats.org/officeDocument/2006/relationships/slide" Target="/ppt/slides/slide8.xml" Id="R781c056315cf4582" /><Relationship Type="http://schemas.openxmlformats.org/officeDocument/2006/relationships/slide" Target="/ppt/slides/slide9.xml" Id="Re52a3eee25864717" /><Relationship Type="http://schemas.openxmlformats.org/officeDocument/2006/relationships/slide" Target="/ppt/slides/slide10.xml" Id="Rea9902aa33f84a23" /><Relationship Type="http://schemas.openxmlformats.org/officeDocument/2006/relationships/slide" Target="/ppt/slides/slide11.xml" Id="Rfc1a6b24002740ac" /><Relationship Type="http://schemas.openxmlformats.org/officeDocument/2006/relationships/slide" Target="/ppt/slides/slide12.xml" Id="R2192547842ec4274" /><Relationship Type="http://schemas.openxmlformats.org/officeDocument/2006/relationships/slide" Target="/ppt/slides/slide13.xml" Id="R8df12201945f48e1" /><Relationship Type="http://schemas.openxmlformats.org/officeDocument/2006/relationships/slide" Target="/ppt/slides/slide14.xml" Id="Rdbd6e898016e4b1f" /><Relationship Type="http://schemas.openxmlformats.org/officeDocument/2006/relationships/slide" Target="/ppt/slides/slide15.xml" Id="R7558266cde714f12" /><Relationship Type="http://schemas.openxmlformats.org/officeDocument/2006/relationships/slide" Target="/ppt/slides/slide16.xml" Id="R5c9a81045f634d6e" /><Relationship Type="http://schemas.openxmlformats.org/officeDocument/2006/relationships/slide" Target="/ppt/slides/slide17.xml" Id="R3ba901a7b5a646c3" /><Relationship Type="http://schemas.openxmlformats.org/officeDocument/2006/relationships/slide" Target="/ppt/slides/slide18.xml" Id="R1cb9cf55c8c94d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42ef6e655341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2f9dc9f5e44423" /><Relationship Type="http://schemas.openxmlformats.org/officeDocument/2006/relationships/notesMaster" Target="/ppt/notesMasters/notesMaster1.xml" Id="Ra9cf48a552d642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ad7529ff794141" /><Relationship Type="http://schemas.openxmlformats.org/officeDocument/2006/relationships/notesMaster" Target="/ppt/notesMasters/notesMaster1.xml" Id="Rc817d29e740f4e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28eccdaa67442d" /><Relationship Type="http://schemas.openxmlformats.org/officeDocument/2006/relationships/notesMaster" Target="/ppt/notesMasters/notesMaster1.xml" Id="R36c5419e465040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b383f5f2c94301" /><Relationship Type="http://schemas.openxmlformats.org/officeDocument/2006/relationships/notesMaster" Target="/ppt/notesMasters/notesMaster1.xml" Id="Re59bd27997ff41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47061d5b9d42d9" /><Relationship Type="http://schemas.openxmlformats.org/officeDocument/2006/relationships/notesMaster" Target="/ppt/notesMasters/notesMaster1.xml" Id="R468f7cdcc69444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f337673c804274" /><Relationship Type="http://schemas.openxmlformats.org/officeDocument/2006/relationships/notesMaster" Target="/ppt/notesMasters/notesMaster1.xml" Id="Rea06661ffa3c42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455d14e4d24410" /><Relationship Type="http://schemas.openxmlformats.org/officeDocument/2006/relationships/notesMaster" Target="/ppt/notesMasters/notesMaster1.xml" Id="R2d5bf5509f8046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4e8122d7434b10" /><Relationship Type="http://schemas.openxmlformats.org/officeDocument/2006/relationships/notesMaster" Target="/ppt/notesMasters/notesMaster1.xml" Id="R1afca5deb2d942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dee7e910fc46f1" /><Relationship Type="http://schemas.openxmlformats.org/officeDocument/2006/relationships/notesMaster" Target="/ppt/notesMasters/notesMaster1.xml" Id="Rcae3998a54c646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6d4671c8a54fd6" /><Relationship Type="http://schemas.openxmlformats.org/officeDocument/2006/relationships/notesMaster" Target="/ppt/notesMasters/notesMaster1.xml" Id="R4da34efe60ec4e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b0c659d95b4569" /><Relationship Type="http://schemas.openxmlformats.org/officeDocument/2006/relationships/notesMaster" Target="/ppt/notesMasters/notesMaster1.xml" Id="R89a50b271d2d4c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f3c558191e4a1c" /><Relationship Type="http://schemas.openxmlformats.org/officeDocument/2006/relationships/notesMaster" Target="/ppt/notesMasters/notesMaster1.xml" Id="R44e3eed8301040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c81c7b8cea48ea" /><Relationship Type="http://schemas.openxmlformats.org/officeDocument/2006/relationships/notesMaster" Target="/ppt/notesMasters/notesMaster1.xml" Id="R58d9b2e9d2d34f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d86a18ba334bd4" /><Relationship Type="http://schemas.openxmlformats.org/officeDocument/2006/relationships/notesMaster" Target="/ppt/notesMasters/notesMaster1.xml" Id="R2f22df6ffa3c44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788679ff544a4e" /><Relationship Type="http://schemas.openxmlformats.org/officeDocument/2006/relationships/notesMaster" Target="/ppt/notesMasters/notesMaster1.xml" Id="R60ac73de72bb41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3235b44d7d4feb" /><Relationship Type="http://schemas.openxmlformats.org/officeDocument/2006/relationships/notesMaster" Target="/ppt/notesMasters/notesMaster1.xml" Id="R0db49c5a870a4c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03e69d571d40b2" /><Relationship Type="http://schemas.openxmlformats.org/officeDocument/2006/relationships/notesMaster" Target="/ppt/notesMasters/notesMaster1.xml" Id="Rae210b648ca64e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be537942144dc8" /><Relationship Type="http://schemas.openxmlformats.org/officeDocument/2006/relationships/notesMaster" Target="/ppt/notesMasters/notesMaster1.xml" Id="Rd09272de037b4e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作品围绕比赛视频与深度赛场数据，把可核对解释带回原画面。封面为实际产品截图，内置视频、球员标识、指标与轨迹均为自行生成的合成演练。官方历史比赛素材尚待主办方提供。独立作品不代表 NBA 授权产品。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https://builderx.csdn.net/bcast-code#challenge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赛题依据用户提供的官网完整赛题文字。完整赛题、数据说明、提交规范和评审细则页面仍注明待更新，本稿没有虚构评分权重或正式数据格式。截图为实际运行的合成演练。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https://builderx.csdn.net/bcast-code#challenge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照片为用户提供的 Smartshot 展会现场材料，说明录制、赛中监测与赛后分析流程。NBA/AWS 2025-10-01 宣布 Inside the Game；NBA/Sony 2023-03-09 宣布 Hawk-Eye 追踪合作；NBA/Second Spectrum 2023-03-09 公告分析与增强观赛合作。Synergy 官方 Insights 文档与 Hudl 篮球产品把统计连接到片段。NBA 2022-06-13 对 Curry、训练师与助教的采访报道 Noah 使用情况。它支持“使用该技术”，不支持“该技术导致冠军”的因果断言。厂商方法页面也不能代替独立效用实验。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https://pr.nba.com/nba-aws-partnership/</a:t>
            </a:r>
          </a:p>
          <a:p xmlns:a="http://schemas.openxmlformats.org/drawingml/2006/main">
            <a:r>
              <a:t>https://pr.nba.com/nba-sony-hawk-eye-innovations-partnership/</a:t>
            </a:r>
          </a:p>
          <a:p xmlns:a="http://schemas.openxmlformats.org/drawingml/2006/main">
            <a:r>
              <a:t>https://pr.nba.com/nba-genius-sports-second-spectrum-expanded-partnership/</a:t>
            </a:r>
          </a:p>
          <a:p xmlns:a="http://schemas.openxmlformats.org/drawingml/2006/main">
            <a:r>
              <a:t>https://support.synergysports.com/support/solutions/articles/77000565958-insights-package</a:t>
            </a:r>
          </a:p>
          <a:p xmlns:a="http://schemas.openxmlformats.org/drawingml/2006/main">
            <a:r>
              <a:t>https://www.hudl.com/sports/basketball</a:t>
            </a:r>
          </a:p>
          <a:p xmlns:a="http://schemas.openxmlformats.org/drawingml/2006/main">
            <a:r>
              <a:t>https://cdn-uat.nba.com/news/how-stephen-curry-maintains-peak-conditioning</a:t>
            </a:r>
          </a:p>
          <a:p xmlns:a="http://schemas.openxmlformats.org/drawingml/2006/main">
            <a:r>
              <a:t>https://www.noahbasketball.com/methodology</a:t>
            </a:r>
          </a:p>
          <a:p xmlns:a="http://schemas.openxmlformats.org/drawingml/2006/main">
            <a:r>
              <a:t>https://www.homecourt.ai/faq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依据实际 pro/app.mjs、pro/model.mjs、pro/store.mjs、pro/calibration.mjs、pro/director.mjs 流程。视频绑定、来源定义、同步锚点、固定镜头平面标定、回合编辑、项目修订、解说复核与实际录制均属于当前单设备产品范围。用户人工标注与来源声明都有明确标记。浏览器录制需要支持 MediaRecorder 并保持页面前台。不是公开多租户 SaaS 或自动从视频识别全部战术。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pro/app.mjs</a:t>
            </a:r>
          </a:p>
          <a:p xmlns:a="http://schemas.openxmlformats.org/drawingml/2006/main">
            <a:r>
              <a:t>pro/store.mjs</a:t>
            </a:r>
          </a:p>
          <a:p xmlns:a="http://schemas.openxmlformats.org/drawingml/2006/main">
            <a:r>
              <a:t>pro/calibration.mjs</a:t>
            </a:r>
          </a:p>
          <a:p xmlns:a="http://schemas.openxmlformats.org/drawingml/2006/main">
            <a:r>
              <a:t>pro/director.mjs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原生可编辑图表数据由 data/demo.json、pro/model.mjs 的 rehearsalProject 和 pro/analytics.mjs 的 analyzePossession 当次执行得到。p01=0.38，p02=0.71，p03=0.62。输入结果分别 made、missed、made。所有数据为合成演练。图表仅说明概率与单次结果应分别解读，不能证明真实球员的选择质量、概率校准或任何算法精度。编辑优先级不使用结果作为排序依据。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data/demo.json</a:t>
            </a:r>
          </a:p>
          <a:p xmlns:a="http://schemas.openxmlformats.org/drawingml/2006/main">
            <a:r>
              <a:t>pro/model.mjs</a:t>
            </a:r>
          </a:p>
          <a:p xmlns:a="http://schemas.openxmlformats.org/drawingml/2006/main">
            <a:r>
              <a:t>pro/analytics.mjs</a:t>
            </a:r>
          </a:p>
          <a:p xmlns:a="http://schemas.openxmlformats.org/drawingml/2006/main">
            <a:r>
              <a:t>https://www.nba.com/news/intro-to-expected-field-goal-percentage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产品“结果揭晓前·决策冻结”交互。需要有效且无矛盾的shotTime。未知shotTime在项目数据中保持null，不以end-.2代替。仅有resultTime的回合仍可按有效结果时刻正常解读，但不开放出手前判断。已有shotTime但结果非法或矛盾时拒绝，只有有效shotTime且结果缺失可开启，结果仍未知。有效字段不构成来源认证。浏览器检查请求32.50秒，实际显示32.52秒解码帧，短播后暂停，只用最近32.50秒采样，近防距离4.4ft，0/3指标可用，未来指标与结果隐藏。分析器按asOf过滤未来availableAt、轨迹和结果；用户先记录选择再揭晓，不证明替代选择一定更优。截图仍为合成演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docs/arena-assets/decision-final.png</a:t>
            </a:r>
          </a:p>
          <a:p xmlns:a="http://schemas.openxmlformats.org/drawingml/2006/main">
            <a:r>
              <a:t>pro/model.mjs</a:t>
            </a:r>
          </a:p>
          <a:p xmlns:a="http://schemas.openxmlformats.org/drawingml/2006/main">
            <a:r>
              <a:t>pro/app.mjs decisionDialog</a:t>
            </a:r>
          </a:p>
          <a:p xmlns:a="http://schemas.openxmlformats.org/drawingml/2006/main">
            <a:r>
              <a:t>pro/analytics.mjs analyzePossession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当次执行内核所得 p03 H5 窗口：start=26.5, end=29.5, duration=3s，minDistanceFt=6.191，sampleCount=7，maxGap=0.5s，timingUncertaintySec=0.25s。定义为完整防守名单的离散样本内最近防守距离不低于 6 ft，不能确认间隙内持续空位或传球可完成。几何距离不替代官方 Gravity。首次读数与完整窗口分别在证据可用后叙述，避免未来样本泄漏。所有坐标为合成演练。原生 scatter chart 保留全部采样点，距离保留三位小数以适配 Excel 工作簿，未舍入计算记录另存统计 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docs/arena-assets/deck-demo-statistics.json</a:t>
            </a:r>
          </a:p>
          <a:p xmlns:a="http://schemas.openxmlformats.org/drawingml/2006/main">
            <a:r>
              <a:t>pro/analytics.mjs opportunityWindows</a:t>
            </a:r>
          </a:p>
          <a:p xmlns:a="http://schemas.openxmlformats.org/drawingml/2006/main">
            <a:r>
              <a:t>https://www.nba.com/inside-the-game/player/gravity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截图分别来自当前产品的 fan 与 analyst 视角，使用不同状态的真实产品画面，不是生成的界面概念。buildNarration 改变措辞与证据展示密度，引用同一分析记录。当前中文本地解说为确定性编排，不宣称语言模型已运行。专业模式还显示输入引力口径、采样阵形变化及相关限制。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pro/analytics.mjs buildNarration</a:t>
            </a:r>
          </a:p>
          <a:p xmlns:a="http://schemas.openxmlformats.org/drawingml/2006/main">
            <a:r>
              <a:t>pro/app.mjs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产品双回合比较页面，截图保留两段独立源视频秒数，不作为相同战术时刻或帧对齐精度的测量证据。产品提供相对回合进度回放，但不能把相对播放进度误称完全相同战术时刻。两个回合各自保留来源与证据。比较当前项目提供的片段，不宣称访问 NBA Play Finder 私有历史库。两支球队、运动、结果与指标均为合成演练。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pro/app.mjs compare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时间线由 p03 buildNarration fan.cues 原样生成。开始偏移系列透明且不显示标签，只负责放置蓝色字幕持续条。真实区间保留在可编辑原生图表的工作簿中，单位秒。每句 evidenceIds 对应输入字段与 t 时间。结果只从 resultTime 起显示。发布故事可选模型仅选择既有 ID，服务端重新从输入证据值编译文字，不采用模型自由生成数值。结构验证不认证官方来源。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docs/arena-assets/deck-demo-statistics.json</a:t>
            </a:r>
          </a:p>
          <a:p xmlns:a="http://schemas.openxmlformats.org/drawingml/2006/main">
            <a:r>
              <a:t>pro/analytics.mjs buildNarration</a:t>
            </a:r>
          </a:p>
          <a:p xmlns:a="http://schemas.openxmlformats.org/drawingml/2006/main">
            <a:r>
              <a:t>core/arena_agent.py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依据实际模块绘制的可编辑制作流程，右侧使用实际观看页截图，不冒称制作页界面。产品支持逐句编辑、人工箭头/区域/标签、片单入出点、顺序调整、回合复核与导出入口。人工标注不冒称自动识别，用户复核勾选属于操作者声明。导出片单把原视频秒转换成成片相对秒，并保留 sourceStart/sourceEnd。项目备份和修订支持继续工作。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pro/app.mjs director</a:t>
            </a:r>
          </a:p>
          <a:p xmlns:a="http://schemas.openxmlformats.org/drawingml/2006/main">
            <a:r>
              <a:t>pro/director.mjs playlistPlan</a:t>
            </a:r>
          </a:p>
          <a:p xmlns:a="http://schemas.openxmlformats.org/drawingml/2006/main">
            <a:r>
              <a:t>pro/store.mjs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片截帧来自实际编码的视频文件。本片完整实跑Arena浏览器录制→本机Tingting配音→HTTP持久素材库→浏览器原生下载，下载文件SHA-256核对一致。1280×720、H264/AAC、300视频帧、容器12.008333秒，平均帧率4500/181，不是恒定25fps。源帧24.00至35.96秒，最大已观察源帧间隔0.04秒。计划12秒、输入WebM12.008秒，漂移0.008秒、统一近似时长缩放1.000666667。原片音轨省略；本机中文声音真实编码到AAC。不把浏览器试听当成成片配音，实际功能成功也不证明逐句画面语义认证或真实NBA解说精度。5句短文已人工精简复核并有证据ID，未实调LLM。字幕VTT、分镜证据JSON、HTML和项目备份分别交付。另有离线12秒/300帧/25fps成片，不能将它的恒帧率标签套用本片。实测输出元数据：{"renderer":"browser-mediarecorder-local-tts-http-artifact","browserRecording":true,"browserDownloadVerified":true,"downloadSha256Matched":true,"durationSeconds":12.008333,"plannedDurationSeconds":12,"bytes":736735,"resolution":"1280x720","format":"MP4 / H.264 + AAC","videoCodec":"h264","audioCodec":"aac","hasAudio":true,"averageFrameRate":"4500/181","constant25Fps":false,"frames":300,"sha256":"7587b302d1cfdef6e0ee530d56d78499ad935a7b453b51f367bf5e9c405a0e2f","voiceReport":{"provider":"macos-say-local","voice":"Tingting","cueCount":5,"durationSeconds":12.008333,"plannedDurationSeconds":12,"inputDurationSeconds":12.008,"timingDriftSeconds":0.008,"timingScale":1.000666667,"alignment":"small-uniform-duration-adjustment-approximate","originalAudio":"omitted","sourceAuthenticated":false,"cueFrameAlignmentVerified":false,"browserRecording":true},"recordingAudit":[{"playId":"p03","outputStart":0,"outputEnd":12,"requestedStart":24,"requestedEnd":36,"firstFrameTime":24,"lastFrameTime":35.96,"frameCount":300,"maxObservedFrameGap":0.04000000000000625}],"sourceAuthenticated":false,"cueFrameAlignmentVerified":false,"origin":"actual Arena IAB recording + evidence-linked manually shortened synthetic cues + local Tingting TTS + persistent HTTP artifact + verified native browser download","warnings":["实际录制为可变编码帧间隔，不能标记恒定25fps。","原片声音未写入；仅本机中文配音。","语音计划时钟作小幅统一时长校正，不等于逐句画面语义认证。"],"sourceFiles":["media/arena-browser-story.mp4","docs/arena-assets/browser-export-validation.json"]}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pro/app.mjs exportVideo</a:t>
            </a:r>
          </a:p>
          <a:p xmlns:a="http://schemas.openxmlformats.org/drawingml/2006/main">
            <a:r>
              <a:t>pro/director.mjs</a:t>
            </a:r>
          </a:p>
          <a:p xmlns:a="http://schemas.openxmlformats.org/drawingml/2006/main">
            <a:r>
              <a:t>media/arena-browser-story.mp4</a:t>
            </a:r>
          </a:p>
          <a:p xmlns:a="http://schemas.openxmlformats.org/drawingml/2006/main">
            <a:r>
              <a:t>docs/arena-assets/browser-export-validation.json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NBA xFG 专题说明使用联盟平均参考，不直接表示球员个人真实命中率。Gravity 对比实际防守关注与基于位置的预期关注，近防距离不能复刻它。官方 Leverage 以事件反事实结果产生的胜负机会影响为基础，不应当作开始到结束的简单实际胜率差。AWS Leverage 技术说明对模型应用有进一步描述。合成演练中的 0–1 possession_win_probability_opportunity 是项目声明的不同输入语义，原值不会靠重命名变成官方统计。实验室跨回合比较同时核对语义、单位与definition；即使语义和单位相同，definition不同也拒绝比较。投篮概率乘分值也不能冒充包含传球、失误、篮板和犯规的完整 EPV。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https://www.nba.com/news/intro-to-expected-field-goal-percentage</a:t>
            </a:r>
          </a:p>
          <a:p xmlns:a="http://schemas.openxmlformats.org/drawingml/2006/main">
            <a:r>
              <a:t>https://www.nba.com/inside-the-game/player/gravity</a:t>
            </a:r>
          </a:p>
          <a:p xmlns:a="http://schemas.openxmlformats.org/drawingml/2006/main">
            <a:r>
              <a:t>https://www.nba.com/news/leverage-stat-explainer</a:t>
            </a:r>
          </a:p>
          <a:p xmlns:a="http://schemas.openxmlformats.org/drawingml/2006/main">
            <a:r>
              <a:t>https://aws.amazon.com/blogs/media/how-the-nba-and-aws-built-an-ai-system-to-measure-what-actually-wins-basketball-games/</a:t>
            </a:r>
          </a:p>
          <a:p xmlns:a="http://schemas.openxmlformats.org/drawingml/2006/main">
            <a:r>
              <a:t>https://arxiv.org/abs/1408.0777</a:t>
            </a:r>
          </a:p>
          <a:p xmlns:a="http://schemas.openxmlformats.org/drawingml/2006/main">
            <a:r>
              <a:t>pro/analytics.mjs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架构图以可编辑原生文字与连接器表示实际模块关系。浏览器 pro/model.mjs、analytics.mjs、render.mjs、director.mjs、store.mjs 完成数据合同、本地证据内核、画面叠加、制作与保存。可选 core/arena_agent.py 对 Bedrock Converse 或固定 127.0.0.1:11434 Ollama 执行 read_evidence/search_plays/publish_story 工具循环，最多 4 轮、8 声明，输入不超过100000 bytes。模型选择 ID，服务端拒绝不存在、未读取、时刻未可用的声明，并从字段值生成文字。浏览器数据经结构、引用、单位和时序验证，不等于服务器重算全部轨迹或认证 NBA 来源。当前未声称模型真实实调成功。原视频不随模型请求发送。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https://docs.aws.amazon.com/bedrock/latest/APIReference/API_runtime_Converse.html</a:t>
            </a:r>
          </a:p>
          <a:p xmlns:a="http://schemas.openxmlformats.org/drawingml/2006/main">
            <a:r>
              <a:t>https://docs.ollama.com/capabilities/tool-calling</a:t>
            </a:r>
          </a:p>
          <a:p xmlns:a="http://schemas.openxmlformats.org/drawingml/2006/main">
            <a:r>
              <a:t>core/arena_agent.py</a:t>
            </a:r>
          </a:p>
          <a:p xmlns:a="http://schemas.openxmlformats.org/drawingml/2006/main">
            <a:r>
              <a:t>pro/analytics.mjs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最终实际复跑：Arena JS274、Studio/site78、旧入口CJS59，Node合计411，skip=0。本轮新增事件语义10、出手标记5、实验室指标合同21，合计36项，均已计入Arena274。既有决策时刻边界25项也在Arena范围内。原macOS环境提供实际捕获WebM的Python完整196项，skip=0；清包独立macOS验收Python195项通过、1项因原始捕获WebM未入包而跳过，不算通过。随包转码MP4不能代替该原始输入。publicsite12项通过。Python196内含Agent23、voice23、artifacts32，其中6项实际HTTP，不重复计数。确切配置：[{"scope":"Arena 前端","passed":274,"note":"独立反例与时刻边界"},{"scope":"Studio / Site","passed":78,"note":"保留功能逻辑"},{"scope":"旧入口 CJS","passed":59,"note":"Node 合计 411 项"},{"scope":"Python 后端","passed":196,"note":"原环境带捕获文件\n清包195过、1跳过"},{"scope":"静态站验收","passed":12,"note":"公开素材与构建检查"}]。模型提供方仍是mock，不宣传为真实云模型效果。3回合内核接口验证使用75帧合成位置、实际buildNarration输出与服务端验证。覆盖未知或跨回合ID、先读后发布、未来证据、缺失、非有限值、字节/轮数/工具/截止预算和连接失败。回归覆盖未知shotTime保持null、result-only正常解读与决策冻结限制、实验室未知语义、缺Gravity单位/定义、不同方向、definition、range与来源类型不兼容（含无排序signature的原始读数）拒绝比较；Gravity缺单位/定义同时不赋归一化值或排序分量，以及窄屏项目切换可见。浏览器中文配音→持久保存→原生下载已经实机跑通，736735字节MP4，SHA7587b302d1cfdef6e0ee530d56d78499ad935a7b453b51f367bf5e9c405a0e2f；连续两段27–29/33–35秒实机播放结束在34.96秒暂停。来源声明仍不构成认证；未验收真实NBA数据、LLM推理或逐帧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docs/Arena-使用与验收.md</a:t>
            </a:r>
          </a:p>
          <a:p xmlns:a="http://schemas.openxmlformats.org/drawingml/2006/main">
            <a:r>
              <a:t>docs/arena-assets/browser-export-validation.json</a:t>
            </a:r>
          </a:p>
          <a:p xmlns:a="http://schemas.openxmlformats.org/drawingml/2006/main">
            <a:r>
              <a:t>tests/test-pro-model.mjs</a:t>
            </a:r>
          </a:p>
          <a:p xmlns:a="http://schemas.openxmlformats.org/drawingml/2006/main">
            <a:r>
              <a:t>tests/test-pro-analytics.mjs</a:t>
            </a:r>
          </a:p>
          <a:p xmlns:a="http://schemas.openxmlformats.org/drawingml/2006/main">
            <a:r>
              <a:t>tests/test-pro-decision-attack.mjs</a:t>
            </a:r>
          </a:p>
          <a:p xmlns:a="http://schemas.openxmlformats.org/drawingml/2006/main">
            <a:r>
              <a:t>tests/test_arena_agent.py</a:t>
            </a:r>
          </a:p>
          <a:p xmlns:a="http://schemas.openxmlformats.org/drawingml/2006/main">
            <a:r>
              <a:t>tests/test_arena_artifacts.py</a:t>
            </a:r>
          </a:p>
          <a:p xmlns:a="http://schemas.openxmlformats.org/drawingml/2006/main">
            <a:r>
              <a:t>tests/test_arena_voice.py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主办方素材接入清单。官网完整数据格式尚待提供，项目 JSON/CSV 中间格式不冒称官方接口。镜头平面变换只适用于地面点，球员头部与空中球需要3D或其他模型，不用平面标定代替。镜头移动、缩放或切换需要新标定或停用不可靠图层。单条同步锚点仅固定偏移，多条不外推。对来源字典的未说明字段保持 unknown，不猜单位或缺失值。选择编辑优先级是明确的编辑规则，不是模型准确率。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https://builderx.csdn.net/bcast-code#challenge</a:t>
            </a:r>
          </a:p>
          <a:p xmlns:a="http://schemas.openxmlformats.org/drawingml/2006/main">
            <a:r>
              <a:t>pro/model.mjs</a:t>
            </a:r>
          </a:p>
          <a:p xmlns:a="http://schemas.openxmlformats.org/drawingml/2006/main">
            <a:r>
              <a:t>pro/calibration.mjs</a:t>
            </a:r>
          </a:p>
          <a:p xmlns:a="http://schemas.openxmlformats.org/drawingml/2006/main">
            <a:r>
              <a:t>pro/analytics.mjs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使用场景属于产品适用建议，未声称已有 NBA 球队部署、付费客户、市场规模或商业合作。商业验证指标建议为完成同一片段所需编辑时间、证据复核错误和观众理解，不预先声称改善幅度。训练复盘仅描述动作和比赛记录，不提供医疗诊断、伤病预测或“科技导致冠军”的归因。对球队材料要先确认权限，产品当前单设备范围不冒称多人团队云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https://support.synergysports.com/support/solutions/articles/77000565958-insights-package</a:t>
            </a:r>
          </a:p>
          <a:p xmlns:a="http://schemas.openxmlformats.org/drawingml/2006/main">
            <a:r>
              <a:t>https://www.hudl.com/sports/basketball</a:t>
            </a:r>
          </a:p>
          <a:p xmlns:a="http://schemas.openxmlformats.org/drawingml/2006/main">
            <a:r>
              <a:t>https://www.noahbasketball.com/methodology</a:t>
            </a:r>
          </a:p>
          <a:p xmlns:a="http://schemas.openxmlformats.org/drawingml/2006/main">
            <a:r>
              <a:t>https://www.homecourt.ai/faq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公开演示链接：https://dingyucanada.github.io/courtlens/</a:t>
            </a:r>
          </a:p>
          <a:p xmlns:a="http://schemas.openxmlformats.org/drawingml/2006/main">
            <a:r>
              <a:t>源码仓库：https://github.com/dingyucanada/courtlens</a:t>
            </a:r>
          </a:p>
          <a:p xmlns:a="http://schemas.openxmlformats.org/drawingml/2006/main">
            <a:r>
              <a:t>交付包含可运行网页与本机服务、源码、方法与接入说明、演示视频、证据报告、字幕与项目备份。产品截图和所有图表演练数据为自行生成。正式NBA视频与数据还需要主办方许可与现场复核。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来源（访问日期 2026-09-28）</a:t>
            </a:r>
          </a:p>
          <a:p xmlns:a="http://schemas.openxmlformats.org/drawingml/2006/main">
            <a:r>
              <a:t>https://builderx.csdn.net/bcast-code#challenge</a:t>
            </a:r>
          </a:p>
          <a:p xmlns:a="http://schemas.openxmlformats.org/drawingml/2006/main">
            <a:r>
              <a:t>https://dingyucanada.github.io/courtlens/</a:t>
            </a:r>
          </a:p>
          <a:p xmlns:a="http://schemas.openxmlformats.org/drawingml/2006/main">
            <a:r>
              <a:t>https://github.com/dingyucanada/courtlens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af9944e664d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65724bfcbd4780" /><Relationship Type="http://schemas.openxmlformats.org/officeDocument/2006/relationships/slideLayout" Target="/ppt/slideLayouts/slideLayout1.xml" Id="R369357d86a134b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9357d86a134b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ebe812c9d48ef" /><Relationship Type="http://schemas.openxmlformats.org/officeDocument/2006/relationships/image" Target="/ppt/media/image.jpeg" Id="R5dc12a5fe1ff4944" /><Relationship Type="http://schemas.openxmlformats.org/officeDocument/2006/relationships/notesSlide" Target="/ppt/notesSlides/notesSlide1.xml" Id="Rd94afcf2491247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e444c765e4f3e" /><Relationship Type="http://schemas.openxmlformats.org/officeDocument/2006/relationships/image" Target="/ppt/media/image2.jpeg" Id="R24e51a9d02c74cdb" /><Relationship Type="http://schemas.openxmlformats.org/officeDocument/2006/relationships/notesSlide" Target="/ppt/notesSlides/notesSlide2.xml" Id="R3d56d5f8871741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d979f45d34660" /><Relationship Type="http://schemas.openxmlformats.org/officeDocument/2006/relationships/image" Target="/ppt/media/image3.jpeg" Id="Rc8c92125206b4622" /><Relationship Type="http://schemas.openxmlformats.org/officeDocument/2006/relationships/notesSlide" Target="/ppt/notesSlides/notesSlide3.xml" Id="Ra1da7378367748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7000ccd424005" /><Relationship Type="http://schemas.openxmlformats.org/officeDocument/2006/relationships/notesSlide" Target="/ppt/notesSlides/notesSlide4.xml" Id="R341d8d1a1c0248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3ac30cfd04a43" /><Relationship Type="http://schemas.openxmlformats.org/officeDocument/2006/relationships/chart" Target="/ppt/slides/charts/chart1.xml" Id="Re4e712124fd34189" /><Relationship Type="http://schemas.openxmlformats.org/officeDocument/2006/relationships/image" Target="/ppt/media/image4.jpeg" Id="Rd4d4ee9b7fcf4b61" /><Relationship Type="http://schemas.openxmlformats.org/officeDocument/2006/relationships/notesSlide" Target="/ppt/notesSlides/notesSlide5.xml" Id="R923a211ed8eb46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493d639c24281" /><Relationship Type="http://schemas.openxmlformats.org/officeDocument/2006/relationships/image" Target="/ppt/media/image5.jpeg" Id="R66a01dbdb9f1483e" /><Relationship Type="http://schemas.openxmlformats.org/officeDocument/2006/relationships/notesSlide" Target="/ppt/notesSlides/notesSlide6.xml" Id="R637005da9bcd4d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d2e3303074b47" /><Relationship Type="http://schemas.openxmlformats.org/officeDocument/2006/relationships/chart" Target="/ppt/slides/charts/chart2.xml" Id="R92375eb776594ea2" /><Relationship Type="http://schemas.openxmlformats.org/officeDocument/2006/relationships/notesSlide" Target="/ppt/notesSlides/notesSlide7.xml" Id="R0dd36f366f214f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772d20762438d" /><Relationship Type="http://schemas.openxmlformats.org/officeDocument/2006/relationships/image" Target="/ppt/media/image6.jpeg" Id="R641881e7f82e46e1" /><Relationship Type="http://schemas.openxmlformats.org/officeDocument/2006/relationships/image" Target="/ppt/media/image7.jpeg" Id="R8b1dd004c234443d" /><Relationship Type="http://schemas.openxmlformats.org/officeDocument/2006/relationships/notesSlide" Target="/ppt/notesSlides/notesSlide8.xml" Id="R733786d0fd884a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1c81b1b5d453b" /><Relationship Type="http://schemas.openxmlformats.org/officeDocument/2006/relationships/image" Target="/ppt/media/image8.jpeg" Id="R289f21ba663d4457" /><Relationship Type="http://schemas.openxmlformats.org/officeDocument/2006/relationships/notesSlide" Target="/ppt/notesSlides/notesSlide9.xml" Id="Rf5252114e0e54c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323fe3f4f4305" /><Relationship Type="http://schemas.openxmlformats.org/officeDocument/2006/relationships/chart" Target="/ppt/slides/charts/chart3.xml" Id="R20b2833195d841f9" /><Relationship Type="http://schemas.openxmlformats.org/officeDocument/2006/relationships/image" Target="/ppt/media/image9.jpeg" Id="R53902ff99d604cea" /><Relationship Type="http://schemas.openxmlformats.org/officeDocument/2006/relationships/notesSlide" Target="/ppt/notesSlides/notesSlide10.xml" Id="Rf63f0373dbb84d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e24a6e51c460a" /><Relationship Type="http://schemas.openxmlformats.org/officeDocument/2006/relationships/image" Target="/ppt/media/image10.jpeg" Id="Ra89114384b964436" /><Relationship Type="http://schemas.openxmlformats.org/officeDocument/2006/relationships/notesSlide" Target="/ppt/notesSlides/notesSlide11.xml" Id="Rbef3cde85afa4f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00f6237c84810" /><Relationship Type="http://schemas.openxmlformats.org/officeDocument/2006/relationships/image" Target="/ppt/media/image.png" Id="R9da1e20dd70c451a" /><Relationship Type="http://schemas.openxmlformats.org/officeDocument/2006/relationships/notesSlide" Target="/ppt/notesSlides/notesSlide12.xml" Id="R165c8325e7f846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364aa60924a2f" /><Relationship Type="http://schemas.openxmlformats.org/officeDocument/2006/relationships/notesSlide" Target="/ppt/notesSlides/notesSlide13.xml" Id="R2dc5fb09cea04a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54cee9ad14534" /><Relationship Type="http://schemas.openxmlformats.org/officeDocument/2006/relationships/notesSlide" Target="/ppt/notesSlides/notesSlide14.xml" Id="R7282e796140e48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527c90cfd4b0d" /><Relationship Type="http://schemas.openxmlformats.org/officeDocument/2006/relationships/notesSlide" Target="/ppt/notesSlides/notesSlide15.xml" Id="R99038fe1c38446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fb6f052a144a4" /><Relationship Type="http://schemas.openxmlformats.org/officeDocument/2006/relationships/notesSlide" Target="/ppt/notesSlides/notesSlide16.xml" Id="R10a2743bb1b74c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48e1cf5cc4054" /><Relationship Type="http://schemas.openxmlformats.org/officeDocument/2006/relationships/notesSlide" Target="/ppt/notesSlides/notesSlide17.xml" Id="Ree247c37a7a346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fa0e266484e39" /><Relationship Type="http://schemas.openxmlformats.org/officeDocument/2006/relationships/notesSlide" Target="/ppt/notesSlides/notesSlide18.xml" Id="Ra89cc90322084a3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输入预期命中概率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4243D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输入预期命中概率</c:v>
          </c:tx>
          <c:spPr>
            <a:solidFill xmlns:a="http://schemas.openxmlformats.org/drawingml/2006/main">
              <a:srgbClr val="17408B"/>
            </a:solidFill>
          </c:spPr>
          <c:cat>
            <c:strRef>
              <c:f>'Chart Data'!$A$2:$A$4</c:f>
              <c:strCache>
                <c:ptCount val="3"/>
                <c:pt idx="0">
                  <c:v>p01 命中</c:v>
                </c:pt>
                <c:pt idx="1">
                  <c:v>p02 未中</c:v>
                </c:pt>
                <c:pt idx="2">
                  <c:v>p03 命中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0.38</c:v>
                </c:pt>
                <c:pt idx="1">
                  <c:v>0.71</c:v>
                </c:pt>
                <c:pt idx="2">
                  <c:v>0.62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4243D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H5 最近已记录防守者距离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4243D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输入样本</c:v>
          </c:tx>
          <c:spPr>
            <a:ln xmlns:a="http://schemas.openxmlformats.org/drawingml/2006/main" w="28575">
              <a:solidFill>
                <a:srgbClr val="17408B"/>
              </a:solidFill>
            </a:ln>
          </c:spPr>
          <c:marker>
            <c:symbol val="circle"/>
            <c:size val="4"/>
            <c:spPr>
              <a:solidFill xmlns:a="http://schemas.openxmlformats.org/drawingml/2006/main">
                <a:srgbClr val="17408B"/>
              </a:solidFill>
            </c:spPr>
          </c:marker>
          <c:xVal>
            <c:numRef>
              <c:f>'Chart Data'!$A$2:$A$26</c:f>
              <c:numCache>
                <c:formatCode>General</c:formatCode>
                <c:ptCount val="25"/>
                <c:pt idx="0">
                  <c:v>24</c:v>
                </c:pt>
                <c:pt idx="1">
                  <c:v>24.5</c:v>
                </c:pt>
                <c:pt idx="2">
                  <c:v>25</c:v>
                </c:pt>
                <c:pt idx="3">
                  <c:v>25.5</c:v>
                </c:pt>
                <c:pt idx="4">
                  <c:v>26</c:v>
                </c:pt>
                <c:pt idx="5">
                  <c:v>26.5</c:v>
                </c:pt>
                <c:pt idx="6">
                  <c:v>27</c:v>
                </c:pt>
                <c:pt idx="7">
                  <c:v>27.5</c:v>
                </c:pt>
                <c:pt idx="8">
                  <c:v>28</c:v>
                </c:pt>
                <c:pt idx="9">
                  <c:v>28.5</c:v>
                </c:pt>
                <c:pt idx="10">
                  <c:v>29</c:v>
                </c:pt>
                <c:pt idx="11">
                  <c:v>29.5</c:v>
                </c:pt>
                <c:pt idx="12">
                  <c:v>30</c:v>
                </c:pt>
                <c:pt idx="13">
                  <c:v>30.5</c:v>
                </c:pt>
                <c:pt idx="14">
                  <c:v>31</c:v>
                </c:pt>
                <c:pt idx="15">
                  <c:v>31.5</c:v>
                </c:pt>
                <c:pt idx="16">
                  <c:v>32</c:v>
                </c:pt>
                <c:pt idx="17">
                  <c:v>32.5</c:v>
                </c:pt>
                <c:pt idx="18">
                  <c:v>33</c:v>
                </c:pt>
                <c:pt idx="19">
                  <c:v>33.5</c:v>
                </c:pt>
                <c:pt idx="20">
                  <c:v>34</c:v>
                </c:pt>
                <c:pt idx="21">
                  <c:v>34.5</c:v>
                </c:pt>
                <c:pt idx="22">
                  <c:v>35</c:v>
                </c:pt>
                <c:pt idx="23">
                  <c:v>35.5</c:v>
                </c:pt>
                <c:pt idx="24">
                  <c:v>36</c:v>
                </c:pt>
              </c:numCache>
            </c:numRef>
          </c:xVal>
          <c:yVal>
            <c:numRef>
              <c:f>'Chart Data'!$B$2:$B$26</c:f>
              <c:numCache>
                <c:formatCode>0.000</c:formatCode>
                <c:ptCount val="25"/>
                <c:pt idx="0">
                  <c:v>3.986</c:v>
                </c:pt>
                <c:pt idx="1">
                  <c:v>4.444</c:v>
                </c:pt>
                <c:pt idx="2">
                  <c:v>4.903</c:v>
                </c:pt>
                <c:pt idx="3">
                  <c:v>5.362</c:v>
                </c:pt>
                <c:pt idx="4">
                  <c:v>5.821</c:v>
                </c:pt>
                <c:pt idx="5">
                  <c:v>6.28</c:v>
                </c:pt>
                <c:pt idx="6">
                  <c:v>6.739</c:v>
                </c:pt>
                <c:pt idx="7">
                  <c:v>7.197</c:v>
                </c:pt>
                <c:pt idx="8">
                  <c:v>7.656</c:v>
                </c:pt>
                <c:pt idx="9">
                  <c:v>7.49</c:v>
                </c:pt>
                <c:pt idx="10">
                  <c:v>6.806</c:v>
                </c:pt>
                <c:pt idx="11">
                  <c:v>6.191</c:v>
                </c:pt>
                <c:pt idx="12">
                  <c:v>5.661</c:v>
                </c:pt>
                <c:pt idx="13">
                  <c:v>5.225</c:v>
                </c:pt>
                <c:pt idx="14">
                  <c:v>4.884</c:v>
                </c:pt>
                <c:pt idx="15">
                  <c:v>4.632</c:v>
                </c:pt>
                <c:pt idx="16">
                  <c:v>4.461</c:v>
                </c:pt>
                <c:pt idx="17">
                  <c:v>4.369</c:v>
                </c:pt>
                <c:pt idx="18">
                  <c:v>4.358</c:v>
                </c:pt>
                <c:pt idx="19">
                  <c:v>4.355</c:v>
                </c:pt>
                <c:pt idx="20">
                  <c:v>4.52</c:v>
                </c:pt>
                <c:pt idx="21">
                  <c:v>4.84</c:v>
                </c:pt>
                <c:pt idx="22">
                  <c:v>5.275</c:v>
                </c:pt>
                <c:pt idx="23">
                  <c:v>5.772</c:v>
                </c:pt>
                <c:pt idx="24">
                  <c:v>6.279</c:v>
                </c:pt>
              </c:numCache>
            </c:numRef>
          </c:yVal>
        </c:ser>
        <c:ser>
          <c:idx val="1"/>
          <c:order val="1"/>
          <c:tx>
            <c:v>6 ft 自定义阈值</c:v>
          </c:tx>
          <c:spPr>
            <a:ln xmlns:a="http://schemas.openxmlformats.org/drawingml/2006/main" w="19050">
              <a:solidFill>
                <a:srgbClr val="C9082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24</c:v>
                </c:pt>
                <c:pt idx="1">
                  <c:v>36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6</c:v>
                </c:pt>
                <c:pt idx="1">
                  <c:v>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4243D"/>
                    </a:solidFill>
                    <a:latin typeface="PingFang SC"/>
                    <a:ea typeface="PingFang SC"/>
                    <a:cs typeface="PingFang SC"/>
                  </a:rPr>
                  <a:t>ft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4243D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36"/>
          <c:min val="24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4243D"/>
                    </a:solidFill>
                    <a:latin typeface="PingFang SC"/>
                    <a:ea typeface="PingFang SC"/>
                    <a:cs typeface="PingFang SC"/>
                  </a:rPr>
                  <a:t>视频绝对秒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4243D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4243D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p03 解说时间线 · 回合内秒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4243D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barChart>
        <c:barDir val="bar"/>
        <c:grouping val="stacked"/>
        <c:varyColors val="0"/>
        <c:ser>
          <c:idx val="0"/>
          <c:order val="0"/>
          <c:tx>
            <c:v>开始偏移</c:v>
          </c:tx>
          <c:spPr>
            <a:noFill xmlns:a="http://schemas.openxmlformats.org/drawingml/2006/main"/>
            <a:ln xmlns:a="http://schemas.openxmlformats.org/drawingml/2006/main" w="0">
              <a:noFill/>
            </a:ln>
          </c:spPr>
          <c:cat>
            <c:strRef>
              <c:f>'Chart Data'!$A$2:$A$6</c:f>
              <c:strCache>
                <c:ptCount val="5"/>
                <c:pt idx="0">
                  <c:v>结果揭晓</c:v>
                </c:pt>
                <c:pt idx="1">
                  <c:v>出手指标</c:v>
                </c:pt>
                <c:pt idx="2">
                  <c:v>完整观察窗</c:v>
                </c:pt>
                <c:pt idx="3">
                  <c:v>首次空间读数</c:v>
                </c:pt>
                <c:pt idx="4">
                  <c:v>进攻开始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10.5</c:v>
                </c:pt>
                <c:pt idx="1">
                  <c:v>9</c:v>
                </c:pt>
                <c:pt idx="2">
                  <c:v>5.5</c:v>
                </c:pt>
                <c:pt idx="3">
                  <c:v>3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v>字幕停留</c:v>
          </c:tx>
          <c:spPr>
            <a:solidFill xmlns:a="http://schemas.openxmlformats.org/drawingml/2006/main">
              <a:srgbClr val="17408B"/>
            </a:solidFill>
          </c:spPr>
          <c:cat>
            <c:strRef>
              <c:f>'Chart Data'!$C$2:$C$6</c:f>
              <c:strCache>
                <c:ptCount val="5"/>
                <c:pt idx="0">
                  <c:v>结果揭晓</c:v>
                </c:pt>
                <c:pt idx="1">
                  <c:v>出手指标</c:v>
                </c:pt>
                <c:pt idx="2">
                  <c:v>完整观察窗</c:v>
                </c:pt>
                <c:pt idx="3">
                  <c:v>首次空间读数</c:v>
                </c:pt>
                <c:pt idx="4">
                  <c:v>进攻开始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1.5</c:v>
                </c:pt>
                <c:pt idx="1">
                  <c:v>1.5</c:v>
                </c:pt>
                <c:pt idx="2">
                  <c:v>3</c:v>
                </c:pt>
                <c:pt idx="3">
                  <c:v>2.5</c:v>
                </c:pt>
                <c:pt idx="4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A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4243D"/>
                    </a:solidFill>
                    <a:latin typeface="PingFang SC"/>
                    <a:ea typeface="PingFang SC"/>
                    <a:cs typeface="PingFang SC"/>
                  </a:rPr>
                  <a:t>回合内秒数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4243D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3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BC1CA-628C-41E5-B1EC-BD0CC1DC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3E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7D3E5"/>
                </a:solidFill>
                <a:latin typeface="PingFang SC"/>
                <a:ea typeface="PingFang SC"/>
                <a:cs typeface="PingFang SC"/>
              </a:rPr>
              <a:t>01  CourtLens Arena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908E0-CA5F-4D01-976C-5FA45CF3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C7D3E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7D3E5"/>
                </a:solidFill>
                <a:latin typeface="PingFang SC"/>
                <a:ea typeface="PingFang SC"/>
                <a:cs typeface="PingFang SC"/>
              </a:rPr>
              <a:t>独立参赛作品，当前画面为合成演练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AD7B3-A1FB-4E0D-B8E5-AE2F3405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CourtLens Arena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F4437-9686-44CB-B2B5-B7E79614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读懂每一次篮球选择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12a5fe1ff4944"/>
          <a:srcRect xmlns:a="http://schemas.openxmlformats.org/drawingml/2006/main" l="18750" t="8400" r="1389" b="44500"/>
          <a:stretch xmlns:a="http://schemas.openxmlformats.org/drawingml/2006/main"/>
        </p:blipFill>
        <p:spPr>
          <a:xfrm xmlns:a="http://schemas.openxmlformats.org/drawingml/2006/main">
            <a:off x="1002855" y="1809750"/>
            <a:ext cx="10186290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41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DA1EF-E265-4358-89D6-51A50BE4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比赛要求与可见交付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E7AA2-A717-4C6F-A205-AD662B35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02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399AE-3144-4790-85E7-42C5D671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赛题完整数据格式与评审细则尚待更新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49530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952750"/>
              </a:tblGrid>
              <a:tr h="690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赛题要求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作品中的可见交付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</a:tr>
              <a:tr h="690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比赛视频与深度数据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素材接入与来源记录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 Agent 解读关键回合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证据检索与回合故事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箭头、区域、球员标注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原画面上的可控图层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同步篮球解说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逐句字幕与时间锚点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可运行作品和交付物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网页、源码、文档与视频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51a9d02c74cdb"/>
          <a:srcRect xmlns:a="http://schemas.openxmlformats.org/drawingml/2006/main" l="18750" t="8400" r="1389" b="17000"/>
          <a:stretch xmlns:a="http://schemas.openxmlformats.org/drawingml/2006/main"/>
        </p:blipFill>
        <p:spPr>
          <a:xfrm xmlns:a="http://schemas.openxmlformats.org/drawingml/2006/main">
            <a:off x="5905500" y="1611522"/>
            <a:ext cx="5676900" cy="368258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EFBC0-DF60-4AA5-A414-B5B57ED6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正式接入后沿用同一流程，逐段复核官方画面与数据</a:t>
            </a:r>
          </a:p>
        </p:txBody>
      </p:sp>
    </p:spTree>
    <p:extLst>
      <p:ext uri="{BB962C8B-B14F-4D97-AF65-F5344CB8AC3E}">
        <p14:creationId xmlns:p14="http://schemas.microsoft.com/office/powerpoint/2010/main" val="12282655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7D9AD-ECB9-4E19-BF85-E011723C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专业科技的借鉴与边界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AB115-8C72-44F3-953E-EA090976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03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6743C-B94C-4096-8930-AF006C58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训练科技的使用不能单独证明夺冠因果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92125206b4622"/>
          <a:stretch xmlns:a="http://schemas.openxmlformats.org/drawingml/2006/main"/>
        </p:blipFill>
        <p:spPr>
          <a:xfrm xmlns:a="http://schemas.openxmlformats.org/drawingml/2006/main">
            <a:off x="609600" y="2395538"/>
            <a:ext cx="3238500" cy="24288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1" name=""/>
          <p:cNvGraphicFramePr/>
          <p:nvPr/>
        </p:nvGraphicFramePr>
        <p:xfrm>
          <a:off xmlns:a="http://schemas.openxmlformats.org/drawingml/2006/main" x="4238625" y="1457325"/>
          <a:ext xmlns:a="http://schemas.openxmlformats.org/drawingml/2006/main" cx="7343775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057775"/>
              </a:tblGrid>
              <a:tr h="7772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专业依据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本版借鉴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</a:tr>
              <a:tr h="7772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NBA 与 AWS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模型指标与比赛画面对应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Synergy / Hudl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结论直接打开视频证据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Noah 与 Curry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用可测量记录复核出手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Smartshot 网球参考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录制、监测、报告的完整流程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901C1-66EB-4508-985B-A7A96476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38800"/>
            <a:ext cx="73437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保留真实口径，不复制专有模型或宣称获胜因果</a:t>
            </a:r>
          </a:p>
        </p:txBody>
      </p:sp>
    </p:spTree>
    <p:extLst>
      <p:ext uri="{BB962C8B-B14F-4D97-AF65-F5344CB8AC3E}">
        <p14:creationId xmlns:p14="http://schemas.microsoft.com/office/powerpoint/2010/main" val="1957566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391525" y="478155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391525" y="342900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391525" y="207645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D34729-C5ED-4660-B1DD-0BEAD961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完整产品流程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4A9DE-8350-4180-B02B-12C790CF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04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70A3F-B6FC-44ED-8500-E3B288A8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数据与视频留在当前设备，可备份项目并恢复修订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3FA7E-FDC0-49AC-B595-37F4869D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F7B43-2D51-4762-9410-3B3FF88A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4668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视频与数据接入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5C609-4E41-4A50-8731-A8C6761A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F5132-3CC0-4072-B8EE-CE2119E1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145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时间轴与镜头标定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BC962-DC3A-4AF6-BA37-F98D58B2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8B9E9-0970-4D71-8244-6BB165D6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回合分析与证据故事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7BCD9-8718-4BD3-A9DC-5B4CB021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5501E-FA8D-4D10-AA39-9D334069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100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人工复核与片单编排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BABBD-1C48-4C0D-9367-7A260AD4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AA066-373E-47F0-BF2A-BD1C20B7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成片、字幕与报告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5688C-6CCE-47BD-B925-FE97D756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19225"/>
            <a:ext cx="4972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视频、数据与来源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167F3-C0BB-48A4-ACC8-1FE1DB7A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71775"/>
            <a:ext cx="4972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回合证据 + 原画面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4E1BD-D133-46F0-879D-9FF6309D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24325"/>
            <a:ext cx="4972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修订后的故事片单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1CBFE-B205-4B5C-AC55-B59E1CFD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10200"/>
            <a:ext cx="4972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编码视频 · 字幕 · 报告</a:t>
            </a:r>
          </a:p>
        </p:txBody>
      </p:sp>
    </p:spTree>
    <p:extLst>
      <p:ext uri="{BB962C8B-B14F-4D97-AF65-F5344CB8AC3E}">
        <p14:creationId xmlns:p14="http://schemas.microsoft.com/office/powerpoint/2010/main" val="1578915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BFCBE-8956-4ABD-A418-506E7E0F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投篮预期与实际结果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BE698-11FC-4AA7-B7EF-C91AE120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05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4AB1D-5F12-4FC8-ADFF-BD78C2B9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合成演练，概率来自输入记录，不代表真实 NBA 测量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53340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e712124fd34189"/>
          </a:graphicData>
        </a:graphic>
      </p:graphicFrame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4ee9b7fcf4b61"/>
          <a:srcRect xmlns:a="http://schemas.openxmlformats.org/drawingml/2006/main" l="27936" t="26050" r="27644" b="24370"/>
          <a:stretch xmlns:a="http://schemas.openxmlformats.org/drawingml/2006/main"/>
        </p:blipFill>
        <p:spPr>
          <a:xfrm xmlns:a="http://schemas.openxmlformats.org/drawingml/2006/main">
            <a:off x="6483427" y="1466850"/>
            <a:ext cx="4854420" cy="3762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C7FAC-F5FD-4E0B-8A78-BAFA7E74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71% 的出手仍然可能投丢</a:t>
            </a:r>
          </a:p>
        </p:txBody>
      </p:sp>
    </p:spTree>
    <p:extLst>
      <p:ext uri="{BB962C8B-B14F-4D97-AF65-F5344CB8AC3E}">
        <p14:creationId xmlns:p14="http://schemas.microsoft.com/office/powerpoint/2010/main" val="12797923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7B2CF-5DC0-4BE7-AA55-C35EA326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先选择，再揭晓结果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8B162-15BA-4AA8-A627-F7B4C705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06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48977-CAC1-4F8E-9BF9-F755CA77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须有有效出手时刻；未知或矛盾时不开放判断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01dbdb9f1483e"/>
          <a:srcRect xmlns:a="http://schemas.openxmlformats.org/drawingml/2006/main" l="11735" t="13466" r="11610" b="8548"/>
          <a:stretch xmlns:a="http://schemas.openxmlformats.org/drawingml/2006/main"/>
        </p:blipFill>
        <p:spPr>
          <a:xfrm xmlns:a="http://schemas.openxmlformats.org/drawingml/2006/main">
            <a:off x="1190057" y="1285875"/>
            <a:ext cx="4096886" cy="4438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A120D-E48A-4252-8AFD-94BEEAB9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638300"/>
            <a:ext cx="5172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当前信息下的判断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4E577-0566-4639-B69A-BC523EBE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00300"/>
            <a:ext cx="51720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2400" b="1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01  直接出手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2400" b="1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02  继续寻找传球点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2400" b="1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03  信息不足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EFE15-B465-41AC-AAC5-9946640D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86275"/>
            <a:ext cx="51720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揭晓结果后，重新核对自己的理由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CAC39-629F-478F-8381-3F9AA998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先记录自己的选择，再回看比赛结果</a:t>
            </a:r>
          </a:p>
        </p:txBody>
      </p:sp>
    </p:spTree>
    <p:extLst>
      <p:ext uri="{BB962C8B-B14F-4D97-AF65-F5344CB8AC3E}">
        <p14:creationId xmlns:p14="http://schemas.microsoft.com/office/powerpoint/2010/main" val="10025460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608EA-4168-451D-A44F-2CC4F100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采样中的空间机会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52CA1-5FC9-4454-967D-91312561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07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9DAF4-F0BB-4757-B0EC-2567293E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合成坐标，6 ft 为可修改的几何阈值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409700"/>
          <a:ext xmlns:a="http://schemas.openxmlformats.org/drawingml/2006/main" cx="56388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375eb776594ea2"/>
          </a:graphicData>
        </a:graphic>
      </p:graphicFrame>
      <p:graphicFrame>
        <p:nvGraphicFramePr>
          <p:cNvPr id="12" name=""/>
          <p:cNvGraphicFramePr/>
          <p:nvPr/>
        </p:nvGraphicFramePr>
        <p:xfrm>
          <a:off xmlns:a="http://schemas.openxmlformats.org/drawingml/2006/main" x="6629400" y="1438275"/>
          <a:ext xmlns:a="http://schemas.openxmlformats.org/drawingml/2006/main" cx="4953000" cy="3743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333625"/>
              </a:tblGrid>
              <a:tr h="6238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内核计算结果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p03 · H5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</a:tr>
              <a:tr h="6238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观察区间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26.5–29.5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样本内持续长度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最低近防距离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6.191 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有效样本数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最大样本间隔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C24CB-ACD1-4E4B-B3FD-2E2D9A22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5905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26.5–29.5 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51B58-FB5C-4A29-9670-16F21AC8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34025"/>
            <a:ext cx="491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3.0 秒观察窗，采样间隔 0.5 秒</a:t>
            </a:r>
          </a:p>
        </p:txBody>
      </p:sp>
    </p:spTree>
    <p:extLst>
      <p:ext uri="{BB962C8B-B14F-4D97-AF65-F5344CB8AC3E}">
        <p14:creationId xmlns:p14="http://schemas.microsoft.com/office/powerpoint/2010/main" val="19894300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3AF8C-3A51-44DB-9C2D-E0329758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同一证据，两种观看视角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8482F-4BBD-4226-A1B4-391C0074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08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D7F77-F7CD-40CD-9F81-CC19F5E0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内容按观看者调整，证据 ID 与时刻保持一致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4AAA5-9993-44EA-9035-A5B9EF34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5334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普通球迷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544E7-7035-4EC5-88F8-6592AB84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47775"/>
            <a:ext cx="5334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专业解读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881e7f82e46e1"/>
          <a:srcRect xmlns:a="http://schemas.openxmlformats.org/drawingml/2006/main" l="18750" t="8400" r="1389" b="17000"/>
          <a:stretch xmlns:a="http://schemas.openxmlformats.org/drawingml/2006/main"/>
        </p:blipFill>
        <p:spPr>
          <a:xfrm xmlns:a="http://schemas.openxmlformats.org/drawingml/2006/main">
            <a:off x="609600" y="1822754"/>
            <a:ext cx="5334000" cy="3460143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dd004c234443d"/>
          <a:srcRect xmlns:a="http://schemas.openxmlformats.org/drawingml/2006/main" l="18750" t="38800" r="1389" b="0"/>
          <a:stretch xmlns:a="http://schemas.openxmlformats.org/drawingml/2006/main"/>
        </p:blipFill>
        <p:spPr>
          <a:xfrm xmlns:a="http://schemas.openxmlformats.org/drawingml/2006/main">
            <a:off x="6248400" y="2133517"/>
            <a:ext cx="5334000" cy="283861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B6C1E-88F2-4004-A65D-F5DB2596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空间和选择，用直观语言说明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076B9-9440-496A-8E4B-045454B5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388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显示口径、样本间隔和引用</a:t>
            </a:r>
          </a:p>
        </p:txBody>
      </p:sp>
    </p:spTree>
    <p:extLst>
      <p:ext uri="{BB962C8B-B14F-4D97-AF65-F5344CB8AC3E}">
        <p14:creationId xmlns:p14="http://schemas.microsoft.com/office/powerpoint/2010/main" val="15939789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B0488-3682-454D-B86F-0EF17773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双回合同屏比较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8362A-33B1-4F19-82C0-7A1E083A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09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4FEA5-67D0-4489-B8EB-4B387303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两条源时间轴，来源与样本各自保留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f21ba663d4457"/>
          <a:stretch xmlns:a="http://schemas.openxmlformats.org/drawingml/2006/main"/>
        </p:blipFill>
        <p:spPr>
          <a:xfrm xmlns:a="http://schemas.openxmlformats.org/drawingml/2006/main">
            <a:off x="2913888" y="1333500"/>
            <a:ext cx="6364224" cy="4419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8B9E4-BCA0-46FA-A1C1-4F313A51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分别定位两个片段，再比较出手、空间与防守关系</a:t>
            </a:r>
          </a:p>
        </p:txBody>
      </p:sp>
    </p:spTree>
    <p:extLst>
      <p:ext uri="{BB962C8B-B14F-4D97-AF65-F5344CB8AC3E}">
        <p14:creationId xmlns:p14="http://schemas.microsoft.com/office/powerpoint/2010/main" val="13523309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5C9AB-45EF-47DF-B013-F9A15638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逐句解说的画面锚点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8CB7A-5780-4452-AC1B-457E51A8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10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53323-C937-4F5B-86C2-8C520E25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原视频绝对秒与成片相对秒分别记录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5381625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b2833195d841f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C87F6-B72D-4D4F-B6F6-C9077CF8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85925"/>
            <a:ext cx="5257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逐条查看字段、来源与视频时刻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02ff99d604cea"/>
          <a:srcRect xmlns:a="http://schemas.openxmlformats.org/drawingml/2006/main" l="27778" t="60000" r="27778" b="23800"/>
          <a:stretch xmlns:a="http://schemas.openxmlformats.org/drawingml/2006/main"/>
        </p:blipFill>
        <p:spPr>
          <a:xfrm xmlns:a="http://schemas.openxmlformats.org/drawingml/2006/main">
            <a:off x="6324600" y="2992160"/>
            <a:ext cx="5257800" cy="133088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B365B-4346-43E0-9FCA-9329FD64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选择一条解释，立即回到对应画面与来源字段</a:t>
            </a:r>
          </a:p>
        </p:txBody>
      </p:sp>
    </p:spTree>
    <p:extLst>
      <p:ext uri="{BB962C8B-B14F-4D97-AF65-F5344CB8AC3E}">
        <p14:creationId xmlns:p14="http://schemas.microsoft.com/office/powerpoint/2010/main" val="15621633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56031F-23D4-4623-B787-20932677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故事制作与发布复核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AE956-7CD9-473C-A2B2-9CC8A384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11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25F18-D457-41EB-BCBE-994C155A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人工修改与标注都保留身份，修改后重新核对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68E03-1900-4200-9402-6FB7C7A3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90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134DF-5794-40FD-936F-976AB2F2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581150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选入片单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A0ED7-C914-45C7-8B1A-EDC17FD4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981200"/>
            <a:ext cx="4124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设置原视频入出点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47158-3DC0-47B7-ABF5-EE5B7D3C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590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463CB-9670-4143-9751-E1E13918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581275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逐句复核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B29F0-80D0-416B-BD35-C85BFEF4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81325"/>
            <a:ext cx="4124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修改文字，保留人工标记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234C5-C882-44F4-8026-7677912F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590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03271-FA48-436D-9906-427780E2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81400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画面标注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E3A5F-928A-4F0C-B281-209EB3B0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981450"/>
            <a:ext cx="4124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箭头、区域与球员标签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4E6FA-0462-4C6E-ABA8-E78C3477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90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01CF1-FD77-45F7-A880-E74FE336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81525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编码交付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EF8AC-BC78-477B-9E63-FCD4F2A8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81575"/>
            <a:ext cx="4124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成片、VTT 与证据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3D02C-A51A-4AE7-8619-B1B48EF5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76350"/>
            <a:ext cx="548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回合解释 · 实际观看页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114384b964436"/>
          <a:srcRect xmlns:a="http://schemas.openxmlformats.org/drawingml/2006/main" l="18750" t="8400" r="1389" b="17000"/>
          <a:stretch xmlns:a="http://schemas.openxmlformats.org/drawingml/2006/main"/>
        </p:blipFill>
        <p:spPr>
          <a:xfrm xmlns:a="http://schemas.openxmlformats.org/drawingml/2006/main">
            <a:off x="6096000" y="1916198"/>
            <a:ext cx="5486400" cy="3559004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23208-585D-4296-A26B-CC729DFC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片段入出点、顺序、解说与画面标注可继续编辑</a:t>
            </a:r>
          </a:p>
        </p:txBody>
      </p:sp>
    </p:spTree>
    <p:extLst>
      <p:ext uri="{BB962C8B-B14F-4D97-AF65-F5344CB8AC3E}">
        <p14:creationId xmlns:p14="http://schemas.microsoft.com/office/powerpoint/2010/main" val="20213452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0158A-88EB-43CC-A73F-AEFFA5D9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实机跑通的有声战术成片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E0F5A-2082-4B8B-BC8B-21EDA1FD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12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DFB4D-AE60-420B-ACD2-252D9247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浏览器录制、配音、保存与下载均已实测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1e20dd70c451a"/>
          <a:stretch xmlns:a="http://schemas.openxmlformats.org/drawingml/2006/main"/>
        </p:blipFill>
        <p:spPr>
          <a:xfrm xmlns:a="http://schemas.openxmlformats.org/drawingml/2006/main">
            <a:off x="609600" y="1443335"/>
            <a:ext cx="7381875" cy="415230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1" name=""/>
          <p:cNvGraphicFramePr/>
          <p:nvPr/>
        </p:nvGraphicFramePr>
        <p:xfrm>
          <a:off xmlns:a="http://schemas.openxmlformats.org/drawingml/2006/main" x="8334375" y="1476375"/>
          <a:ext xmlns:a="http://schemas.openxmlformats.org/drawingml/2006/main" cx="3248025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009775"/>
              </a:tblGrid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交付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当前内容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战术视频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MP4 / H.264 + AAC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画布尺寸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1280x720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编码时长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12.008333 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aac · 中文配音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实际帧数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300 视频帧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BC61E-14F0-4AF9-9A66-67DCECC2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实际 736,735 字节 · 下载指纹核对一致</a:t>
            </a:r>
          </a:p>
        </p:txBody>
      </p:sp>
    </p:spTree>
    <p:extLst>
      <p:ext uri="{BB962C8B-B14F-4D97-AF65-F5344CB8AC3E}">
        <p14:creationId xmlns:p14="http://schemas.microsoft.com/office/powerpoint/2010/main" val="6829371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66C65-E897-4B03-BFD3-F849AA2E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指标定义与证据边界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62EDE-06DA-40A6-817B-19E79E9C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13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799B0-A7D6-4DF9-8248-25ACCBD5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合成演练的 Leverage 口径与官方新指标不同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095750"/>
                <a:gridCol w="4210050"/>
              </a:tblGrid>
              <a:tr h="7848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官方定义依据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本版处理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</a:tr>
              <a:tr h="7848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出手概率 / xFG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联盟平均参考球员的出手概率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读取原值、单位与定义版本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Gravity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实际与预期防守注意力的差别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保留来源模型值，另列几何描述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事件结果翻转的胜负机会影响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先核对具体口径与适用尺度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几何观察窗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输入样本中的近防距离和时段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标记阈值、采样间隔与来源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08AFE-DA5B-4618-98AD-65A490B6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缺失保持缺失，不用近防距离冒算官方引力</a:t>
            </a:r>
          </a:p>
        </p:txBody>
      </p:sp>
    </p:spTree>
    <p:extLst>
      <p:ext uri="{BB962C8B-B14F-4D97-AF65-F5344CB8AC3E}">
        <p14:creationId xmlns:p14="http://schemas.microsoft.com/office/powerpoint/2010/main" val="14069050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5905500" y="2724150"/>
            <a:ext cx="4763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082A"/>
            </a:solidFill>
            <a:headEnd type="triangle" w="sm" len="sm"/>
            <a:tailEnd type="triangle" w="sm" len="sm"/>
          </a:ln>
        </p:spPr>
      </p:cxnSp>
      <p:cxnSp>
        <p:nvCxnSpPr>
          <p:cNvPr id="1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48575" y="222408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08B"/>
            </a:solidFill>
            <a:tailEnd type="triangle" w="sm" len="sm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43225" y="2224088"/>
            <a:ext cx="1228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08B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0166C-9E24-4769-9AD3-21D7472F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Agent 与视频制作架构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3EF6C-637C-47E3-B1DB-ECC6B01F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14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7B56A-7ED5-497B-BEB0-E272BA7C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本地引擎实际工作，可选模型服务需要用户连接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26761-CCB7-43DF-A482-3A118C2E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比赛视频</a:t>
            </a:r>
          </a:p>
          <a:p xmlns:a="http://schemas.openxmlformats.org/drawingml/2006/main">
            <a:pPr>
              <a:def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数据与时间字典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AA49A-F982-4D03-8AEF-74EC7FE5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24025"/>
            <a:ext cx="3476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浏览器项目</a:t>
            </a:r>
          </a:p>
          <a:p xmlns:a="http://schemas.openxmlformats.org/drawingml/2006/main">
            <a:pPr>
              <a:def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证据分析与原画面叠加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AC8B1-07D2-402D-BC0D-DA59FEF0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724025"/>
            <a:ext cx="26955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故事片单</a:t>
            </a:r>
          </a:p>
          <a:p xmlns:a="http://schemas.openxmlformats.org/drawingml/2006/main">
            <a:pPr>
              <a:def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视频与证据报告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32A55-4B11-402E-8B85-FB351676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924300"/>
            <a:ext cx="36766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可选模型 Agent</a:t>
            </a:r>
          </a:p>
          <a:p xmlns:a="http://schemas.openxmlformats.org/drawingml/2006/main">
            <a:pPr>
              <a:defRPr sz="2175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检索、读取、选择已有声明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C257D-1432-43D9-97B0-E812F1BD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来源与同步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A6475-F9C2-4FFC-9A8C-9D2D6979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47775"/>
            <a:ext cx="3267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本地保存、逐句引用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EE166-E6F3-414F-A019-C839E4FC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247775"/>
            <a:ext cx="2505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实际录制编码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65341-99AE-404F-ACB7-E968EDF9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543550"/>
            <a:ext cx="10039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43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243D"/>
                </a:solidFill>
                <a:latin typeface="PingFang SC"/>
                <a:ea typeface="PingFang SC"/>
                <a:cs typeface="PingFang SC"/>
              </a:rPr>
              <a:t>服务端校验引用、归属与时序，再从输入证据编译公开文字</a:t>
            </a:r>
          </a:p>
        </p:txBody>
      </p:sp>
    </p:spTree>
    <p:extLst>
      <p:ext uri="{BB962C8B-B14F-4D97-AF65-F5344CB8AC3E}">
        <p14:creationId xmlns:p14="http://schemas.microsoft.com/office/powerpoint/2010/main" val="21339704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358313" y="3524250"/>
            <a:ext cx="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cxnSp>
        <p:nvCxnSpPr>
          <p:cNvPr id="12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358313" y="2133600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08B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B2DEC-4512-4E2D-8AE1-D59BDE97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验证范围与实测证据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BF466-6177-4FD6-B012-5D27136E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15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10874-2D2F-4606-B7BB-AF50C2AF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自动化功能验收不等于真实 NBA 分析准确率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5800725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952500"/>
                <a:gridCol w="2562225"/>
              </a:tblGrid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已测范围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通过数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证据与边界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Arena 前端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独立反例与时刻边界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Studio / Site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保留功能逻辑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旧入口 CJS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Node 合计 411 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Python 后端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原环境带捕获文件</a:t>
                      </a:r>
                    </a:p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清包195过、1跳过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静态站验收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公开素材与构建检查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EFD8C-B91A-4D6A-ADF9-694C72B1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495425"/>
            <a:ext cx="4448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读取已存在的证据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DED99-67BB-44B4-918E-1B9D8C58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886075"/>
            <a:ext cx="4448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校验引用、归属与时间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6A05B-DA4B-4159-A9D4-E0FDE77A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257675"/>
            <a:ext cx="4448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9082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9082A"/>
                </a:solidFill>
                <a:latin typeface="PingFang SC"/>
                <a:ea typeface="PingFang SC"/>
                <a:cs typeface="PingFang SC"/>
              </a:rPr>
              <a:t>从字段值编译公开文字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8A1A9-45A1-4FE0-A425-1CA26F30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模型只测协议；成片库含 6 项真实 HTTP 验证</a:t>
            </a:r>
          </a:p>
        </p:txBody>
      </p:sp>
    </p:spTree>
    <p:extLst>
      <p:ext uri="{BB962C8B-B14F-4D97-AF65-F5344CB8AC3E}">
        <p14:creationId xmlns:p14="http://schemas.microsoft.com/office/powerpoint/2010/main" val="16902265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126B9-0775-49B1-818C-E39630FF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官方素材的现场接入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125A9-0C94-4EF9-B591-B930CDD5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16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5B3C4-E2C2-4AA0-8872-73E7D85C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当前接口是项目中间格式，正式赛方字典尚待提供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314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029075"/>
                <a:gridCol w="4133850"/>
              </a:tblGrid>
              <a:tr h="61640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检查内容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现场操作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继续工作的条件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</a:tr>
              <a:tr h="61640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原始素材与授权范围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保留原文件、来源与版本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视频可播放且允许比赛使用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640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数据字典与指标口径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xFG、Gravity、Leverage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单位、含义和尺度明确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640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时间轴对应关系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画面锚点同步源时钟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出手与结果时刻人工核对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640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坐标系与镜头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区分球场坐标和画面坐标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固定镜头分段标定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640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逐回合复核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查轨迹缺口与逐句证据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缺失保留空值，修改留修订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640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最终作品检查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回放导出视频与字幕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编码文件、引用和同步一致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6411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D0A0C-F198-4595-9F80-97FDBA9F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B1933"/>
                </a:solidFill>
                <a:latin typeface="PingFang SC"/>
                <a:ea typeface="PingFang SC"/>
                <a:cs typeface="PingFang SC"/>
              </a:rPr>
              <a:t>真实使用场景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C0F9A-22E6-4A45-875A-311B858C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17  CourtLens Arena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01B3B-D0DF-4D4C-964C-20492820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96A82"/>
                </a:solidFill>
                <a:latin typeface="PingFang SC"/>
                <a:ea typeface="PingFang SC"/>
                <a:cs typeface="PingFang SC"/>
              </a:rPr>
              <a:t>产品当前面向单设备工作，自有或获准素材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109728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095750"/>
                <a:gridCol w="4210050"/>
              </a:tblGrid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使用者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工作任务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交付结果</a:t>
                      </a:r>
                    </a:p>
                  </a:txBody>
                  <a:tcPr marL="91440" marR="91440" marT="45720" marB="45720">
                    <a:solidFill>
                      <a:srgbClr val="17408B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赛事解说与内容编辑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赛前准备、赛后战术片段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可核对的故事片单和成片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篮球媒体与创作者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解释无球空间与出手选择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普通球迷或专业版本解说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篮球教学与社团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先讨论决策，再观看结果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逐句证据和对比片段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训练与球队复盘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分析自有比赛和训练视频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4243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项目修订、素材记录和报告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A60E6-CC04-47D6-93BF-EFD0226D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08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408B"/>
                </a:solidFill>
                <a:latin typeface="PingFang SC"/>
                <a:ea typeface="PingFang SC"/>
                <a:cs typeface="PingFang SC"/>
              </a:rPr>
              <a:t>商业验证下一步：带真实授权素材做试用，测编辑时间与观众理解</a:t>
            </a:r>
          </a:p>
        </p:txBody>
      </p:sp>
    </p:spTree>
    <p:extLst>
      <p:ext uri="{BB962C8B-B14F-4D97-AF65-F5344CB8AC3E}">
        <p14:creationId xmlns:p14="http://schemas.microsoft.com/office/powerpoint/2010/main" val="17631960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9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FF6CC-36FE-44F8-A542-DEE09D1F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3E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7D3E5"/>
                </a:solidFill>
                <a:latin typeface="PingFang SC"/>
                <a:ea typeface="PingFang SC"/>
                <a:cs typeface="PingFang SC"/>
              </a:rPr>
              <a:t>18  CourtLens Arena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A35D9-7E01-4AFC-A9F4-0CCD7051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6270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C7D3E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7D3E5"/>
                </a:solidFill>
                <a:latin typeface="PingFang SC"/>
                <a:ea typeface="PingFang SC"/>
                <a:cs typeface="PingFang SC"/>
              </a:rPr>
              <a:t>官方素材接入后，按同一流程复核并交付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C95D8-67A9-488F-9C1F-F4B55CA5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CourtLens Arena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06112-20A6-4B8E-A75A-01C7CC28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让每一次解释，都回到比赛画面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B24D0-F107-4C4D-92D5-62ECC55B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8CAE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B8CAE5"/>
                </a:solidFill>
                <a:latin typeface="PingFang SC"/>
                <a:ea typeface="PingFang SC"/>
                <a:cs typeface="PingFang SC"/>
              </a:rPr>
              <a:t>在线演示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58F1A-99FC-42CF-9709-4083DC9B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https://dingyucanada.github.io/courtlens/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3FD31-C4C9-4588-9AE5-4717416A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8CAE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B8CAE5"/>
                </a:solidFill>
                <a:latin typeface="PingFang SC"/>
                <a:ea typeface="PingFang SC"/>
                <a:cs typeface="PingFang SC"/>
              </a:rPr>
              <a:t>完整源码与可运行交付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3B84D-0323-4DB4-A3E2-49AD2B80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https://github.com/dingyucanada/courtlens</a:t>
            </a:r>
          </a:p>
        </p:txBody>
      </p:sp>
    </p:spTree>
    <p:extLst>
      <p:ext uri="{BB962C8B-B14F-4D97-AF65-F5344CB8AC3E}">
        <p14:creationId xmlns:p14="http://schemas.microsoft.com/office/powerpoint/2010/main" val="1778104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2026-09-28T08:01:53.4220000Z</dcterms:created>
  <dcterms:modified xsi:type="dcterms:W3CDTF">2026-09-28T08:01:53.4220000Z</dcterms:modified>
</coreProperties>
</file>