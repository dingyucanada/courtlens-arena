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eb37833b3449d" /><Relationship Type="http://schemas.openxmlformats.org/officeDocument/2006/relationships/extended-properties" Target="/docProps/app.xml" Id="R6fb33827226549e8" /><Relationship Type="http://schemas.openxmlformats.org/officeDocument/2006/relationships/officeDocument" Target="/ppt/presentation.xml" Id="R1f400d7045ce47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eca6671de4c8e"/>
  </p:sldMasterIdLst>
  <p:notesMasterIdLst>
    <p:notesMasterId xmlns:r="http://schemas.openxmlformats.org/officeDocument/2006/relationships" r:id="Rebb83829f5be4b38"/>
  </p:notesMasterIdLst>
  <p:sldIdLst>
    <p:sldId xmlns:r="http://schemas.openxmlformats.org/officeDocument/2006/relationships" id="256" r:id="R2f5ead3d44d64091"/>
    <p:sldId xmlns:r="http://schemas.openxmlformats.org/officeDocument/2006/relationships" id="257" r:id="R5a83d57258744fe9"/>
    <p:sldId xmlns:r="http://schemas.openxmlformats.org/officeDocument/2006/relationships" id="258" r:id="Rd61ce581e0dd483e"/>
    <p:sldId xmlns:r="http://schemas.openxmlformats.org/officeDocument/2006/relationships" id="259" r:id="R150fe565cd474f50"/>
    <p:sldId xmlns:r="http://schemas.openxmlformats.org/officeDocument/2006/relationships" id="260" r:id="R8dc692640e144dd9"/>
    <p:sldId xmlns:r="http://schemas.openxmlformats.org/officeDocument/2006/relationships" id="261" r:id="R2225c1b8b9574e2f"/>
    <p:sldId xmlns:r="http://schemas.openxmlformats.org/officeDocument/2006/relationships" id="262" r:id="R3fada9fb0600415e"/>
    <p:sldId xmlns:r="http://schemas.openxmlformats.org/officeDocument/2006/relationships" id="263" r:id="R21708db91a7b4de6"/>
    <p:sldId xmlns:r="http://schemas.openxmlformats.org/officeDocument/2006/relationships" id="264" r:id="R8802f34cedbf444a"/>
    <p:sldId xmlns:r="http://schemas.openxmlformats.org/officeDocument/2006/relationships" id="265" r:id="R57e739c7d5e3442b"/>
    <p:sldId xmlns:r="http://schemas.openxmlformats.org/officeDocument/2006/relationships" id="266" r:id="R8b512f80e6594fb3"/>
    <p:sldId xmlns:r="http://schemas.openxmlformats.org/officeDocument/2006/relationships" id="267" r:id="R4d35f4f6efac4614"/>
    <p:sldId xmlns:r="http://schemas.openxmlformats.org/officeDocument/2006/relationships" id="268" r:id="R72622513b2ef4874"/>
    <p:sldId xmlns:r="http://schemas.openxmlformats.org/officeDocument/2006/relationships" id="269" r:id="Rb304ed2ff71a44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04ce9c455f413e" /><Relationship Type="http://schemas.openxmlformats.org/officeDocument/2006/relationships/slideMaster" Target="/ppt/slideMasters/slideMaster1.xml" Id="R127eca6671de4c8e" /><Relationship Type="http://schemas.openxmlformats.org/officeDocument/2006/relationships/notesMaster" Target="/ppt/notesMasters/notesMaster1.xml" Id="Rebb83829f5be4b38" /><Relationship Type="http://schemas.openxmlformats.org/officeDocument/2006/relationships/presProps" Target="/ppt/presProps.xml" Id="Rd019c3ae41ef454b" /><Relationship Type="http://schemas.openxmlformats.org/officeDocument/2006/relationships/tableStyles" Target="/ppt/tableStyles.xml" Id="Ra509d6dc5d604d08" /><Relationship Type="http://schemas.openxmlformats.org/officeDocument/2006/relationships/slide" Target="/ppt/slides/slide1.xml" Id="R2f5ead3d44d64091" /><Relationship Type="http://schemas.openxmlformats.org/officeDocument/2006/relationships/slide" Target="/ppt/slides/slide2.xml" Id="R5a83d57258744fe9" /><Relationship Type="http://schemas.openxmlformats.org/officeDocument/2006/relationships/slide" Target="/ppt/slides/slide3.xml" Id="Rd61ce581e0dd483e" /><Relationship Type="http://schemas.openxmlformats.org/officeDocument/2006/relationships/slide" Target="/ppt/slides/slide4.xml" Id="R150fe565cd474f50" /><Relationship Type="http://schemas.openxmlformats.org/officeDocument/2006/relationships/slide" Target="/ppt/slides/slide5.xml" Id="R8dc692640e144dd9" /><Relationship Type="http://schemas.openxmlformats.org/officeDocument/2006/relationships/slide" Target="/ppt/slides/slide6.xml" Id="R2225c1b8b9574e2f" /><Relationship Type="http://schemas.openxmlformats.org/officeDocument/2006/relationships/slide" Target="/ppt/slides/slide7.xml" Id="R3fada9fb0600415e" /><Relationship Type="http://schemas.openxmlformats.org/officeDocument/2006/relationships/slide" Target="/ppt/slides/slide8.xml" Id="R21708db91a7b4de6" /><Relationship Type="http://schemas.openxmlformats.org/officeDocument/2006/relationships/slide" Target="/ppt/slides/slide9.xml" Id="R8802f34cedbf444a" /><Relationship Type="http://schemas.openxmlformats.org/officeDocument/2006/relationships/slide" Target="/ppt/slides/slide10.xml" Id="R57e739c7d5e3442b" /><Relationship Type="http://schemas.openxmlformats.org/officeDocument/2006/relationships/slide" Target="/ppt/slides/slide11.xml" Id="R8b512f80e6594fb3" /><Relationship Type="http://schemas.openxmlformats.org/officeDocument/2006/relationships/slide" Target="/ppt/slides/slide12.xml" Id="R4d35f4f6efac4614" /><Relationship Type="http://schemas.openxmlformats.org/officeDocument/2006/relationships/slide" Target="/ppt/slides/slide13.xml" Id="R72622513b2ef4874" /><Relationship Type="http://schemas.openxmlformats.org/officeDocument/2006/relationships/slide" Target="/ppt/slides/slide14.xml" Id="Rb304ed2ff71a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11c097652c4c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c06051e31f4859" /><Relationship Type="http://schemas.openxmlformats.org/officeDocument/2006/relationships/notesMaster" Target="/ppt/notesMasters/notesMaster1.xml" Id="R243bb1ca1eb842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8742e6f14b45ca" /><Relationship Type="http://schemas.openxmlformats.org/officeDocument/2006/relationships/notesMaster" Target="/ppt/notesMasters/notesMaster1.xml" Id="R1aa7ad30122d46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14da332a484709" /><Relationship Type="http://schemas.openxmlformats.org/officeDocument/2006/relationships/notesMaster" Target="/ppt/notesMasters/notesMaster1.xml" Id="R19205f1b583c4e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dfe68332894398" /><Relationship Type="http://schemas.openxmlformats.org/officeDocument/2006/relationships/notesMaster" Target="/ppt/notesMasters/notesMaster1.xml" Id="R0ba307cb043341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2fb07cd0b44e01" /><Relationship Type="http://schemas.openxmlformats.org/officeDocument/2006/relationships/notesMaster" Target="/ppt/notesMasters/notesMaster1.xml" Id="R63739cefd04041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8fb7a6b3a24138" /><Relationship Type="http://schemas.openxmlformats.org/officeDocument/2006/relationships/notesMaster" Target="/ppt/notesMasters/notesMaster1.xml" Id="R0069ef02e7334a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328d90bfda4912" /><Relationship Type="http://schemas.openxmlformats.org/officeDocument/2006/relationships/notesMaster" Target="/ppt/notesMasters/notesMaster1.xml" Id="R2999d22f95d34f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c33bc2145648fd" /><Relationship Type="http://schemas.openxmlformats.org/officeDocument/2006/relationships/notesMaster" Target="/ppt/notesMasters/notesMaster1.xml" Id="R37ea3311df894b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64ea741bee4893" /><Relationship Type="http://schemas.openxmlformats.org/officeDocument/2006/relationships/notesMaster" Target="/ppt/notesMasters/notesMaster1.xml" Id="R12a226552a854c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0c643fcf604f4a" /><Relationship Type="http://schemas.openxmlformats.org/officeDocument/2006/relationships/notesMaster" Target="/ppt/notesMasters/notesMaster1.xml" Id="R527e0faa99ae41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e98fcf07444a12" /><Relationship Type="http://schemas.openxmlformats.org/officeDocument/2006/relationships/notesMaster" Target="/ppt/notesMasters/notesMaster1.xml" Id="Rc08fc01bb65d48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aa07c395bf4aad" /><Relationship Type="http://schemas.openxmlformats.org/officeDocument/2006/relationships/notesMaster" Target="/ppt/notesMasters/notesMaster1.xml" Id="R97781b898bae4f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b4ea0ab1744fdf" /><Relationship Type="http://schemas.openxmlformats.org/officeDocument/2006/relationships/notesMaster" Target="/ppt/notesMasters/notesMaster1.xml" Id="Rb0f4b320123146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8399a1623c44d5" /><Relationship Type="http://schemas.openxmlformats.org/officeDocument/2006/relationships/notesMaster" Target="/ppt/notesMasters/notesMaster1.xml" Id="R3281ead9400c48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产品面向教练、分析师和篮球内容创作者。当前可用形态是本机单用户工作台，配有公开浏览器演示。封面采用已实现的原生合成视频帧。NBA 配色为用户指定，不使用官方标志，不表达合作背书。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https://builderx.csdn.net/bcast-code#challenge</a:t>
            </a:r>
          </a:p>
          <a:p xmlns:a="http://schemas.openxmlformats.org/drawingml/2006/main">
            <a:r>
              <a:t>media/demo.mp4, t=16 秒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实际浏览器截图，非设计效果图。列表依据公开编辑公式，右侧解释引用输入证据。问答执行本地确定性证据工具链，不宣称在线大模型已接通。截图中视频、比分、轨迹和指标均为合成演练。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web/app.js</a:t>
            </a:r>
          </a:p>
          <a:p xmlns:a="http://schemas.openxmlformats.org/drawingml/2006/main">
            <a:r>
              <a:t>core/engine.py</a:t>
            </a:r>
          </a:p>
          <a:p xmlns:a="http://schemas.openxmlformats.org/drawingml/2006/main">
            <a:r>
              <a:t>截图 assets/replay-desktop.png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可编辑柱图。xFG 数值为 0.38、0.71、0.62，显示格式为百分比。分类同时标记实际演练结果，不把结果编码成概率，也不把 n=3 的演练当成准确率样本。正式 xFG 含义最终由赛方字段字典和版本决定。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data/demo.json</a:t>
            </a:r>
          </a:p>
          <a:p xmlns:a="http://schemas.openxmlformats.org/drawingml/2006/main">
            <a:r>
              <a:t>https://www.nba.com/news/intro-to-expected-field-goal-percentage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图表按 P01、P03、P02 排列，总分分别 76.0、42.2、26.9，采用原生堆叠条形图。三项分别为 57.4/12.4/6.2、30.8/7.6/3.8、14.0/5.8/7.1。演练 Leverage 是 0–1 回合胜率机会差，不等同于官方球员累计 Leverage Score 或实际胜率变化。缺失项贡献为 0，并报告缺失，不重新分配权重。此公式为产品编辑规则，没有通过获奖或效果最优验证。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core/engine.py:selection_score</a:t>
            </a:r>
          </a:p>
          <a:p xmlns:a="http://schemas.openxmlformats.org/drawingml/2006/main">
            <a:r>
              <a:t>data/demo.json</a:t>
            </a:r>
          </a:p>
          <a:p xmlns:a="http://schemas.openxmlformats.org/drawingml/2006/main">
            <a:r>
              <a:t>docs/方法与指标.md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两幅图直接从交付的 annotated-demo.mp4 提取，未经绘图或改写。第 9.2 秒尚未到结果时刻 10.5 秒，第 10.7 秒才出现命中字幕。这里的时间精度是输入和渲染行为，不能延伸成真实广播自动对齐准确率。视频探针验证为 1280×720、36 秒、25fps、900 视频帧。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media/annotated-demo.mp4</a:t>
            </a:r>
          </a:p>
          <a:p xmlns:a="http://schemas.openxmlformats.org/drawingml/2006/main">
            <a:r>
              <a:t>core/engine.py:analyze_possession</a:t>
            </a:r>
          </a:p>
          <a:p xmlns:a="http://schemas.openxmlformats.org/drawingml/2006/main">
            <a:r>
              <a:t>验收证据/media-probe.json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原生可编辑证据图。观察输入不等于核实来源真实性，来源声明本身仍需人工核对。示例链接 data/demo.json 到 collect_evidence、claims、cues。因果问题例如“引力导致命中吗”不能只凭同一回合的指标判断。该产品强项是证据组织与可复核交付，并未训练替代官方指标模型。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data/demo.json</a:t>
            </a:r>
          </a:p>
          <a:p xmlns:a="http://schemas.openxmlformats.org/drawingml/2006/main">
            <a:r>
              <a:t>core/engine.py:collect_evidence</a:t>
            </a:r>
          </a:p>
          <a:p xmlns:a="http://schemas.openxmlformats.org/drawingml/2006/main">
            <a:r>
              <a:t>core/engine.py:ask</a:t>
            </a:r>
          </a:p>
          <a:p xmlns:a="http://schemas.openxmlformats.org/drawingml/2006/main">
            <a:r>
              <a:t>tools/cloud_director.py</a:t>
            </a:r>
          </a:p>
          <a:p xmlns:a="http://schemas.openxmlformats.org/drawingml/2006/main">
            <a:r>
              <a:t>https://www.nba.com/news/intro-to-gravity-stat-nba-2025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真实工作台截图，含页面实际绘制的人工区域。保存后的人工标注记录 origin=manual、author_note 和 frame_reviewed，并保存为新的待复核版本。手动划框不改变自动跟踪坐标或声明镜头已标定，既有标定与人工复核是不同的状态。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web/annotate.html</a:t>
            </a:r>
          </a:p>
          <a:p xmlns:a="http://schemas.openxmlformats.org/drawingml/2006/main">
            <a:r>
              <a:t>web/annotate.js</a:t>
            </a:r>
          </a:p>
          <a:p xmlns:a="http://schemas.openxmlformats.org/drawingml/2006/main">
            <a:r>
              <a:t>core/workspace.py</a:t>
            </a:r>
          </a:p>
          <a:p xmlns:a="http://schemas.openxmlformats.org/drawingml/2006/main">
            <a:r>
              <a:t>截图 assets/annotation-desktop.png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图中所有模块均为原生可编辑形状。当前产品本机单用户运行，服务仅绑定 localhost。视频上传保存并验证指纹。导出任务使用不可变数据与媒体快照，完工验证之后才开放下载。当前配音依赖 macOS say，默认字幕版。公开 GitHub Pages 演示只运行静态浏览器体验，不运行此 Python 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server.py</a:t>
            </a:r>
          </a:p>
          <a:p xmlns:a="http://schemas.openxmlformats.org/drawingml/2006/main">
            <a:r>
              <a:t>core/adapters.py</a:t>
            </a:r>
          </a:p>
          <a:p xmlns:a="http://schemas.openxmlformats.org/drawingml/2006/main">
            <a:r>
              <a:t>core/engine.py</a:t>
            </a:r>
          </a:p>
          <a:p xmlns:a="http://schemas.openxmlformats.org/drawingml/2006/main">
            <a:r>
              <a:t>core/workspace.py</a:t>
            </a:r>
          </a:p>
          <a:p xmlns:a="http://schemas.openxmlformats.org/drawingml/2006/main">
            <a:r>
              <a:t>core/jobs.py</a:t>
            </a:r>
          </a:p>
          <a:p xmlns:a="http://schemas.openxmlformats.org/drawingml/2006/main">
            <a:r>
              <a:t>core/media.py</a:t>
            </a:r>
          </a:p>
          <a:p xmlns:a="http://schemas.openxmlformats.org/drawingml/2006/main">
            <a:r>
              <a:t>docs/产品架构与运维.md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准确数字来自冻结交付验收证据 python.log 和 node.log：Python 118 项、Node 59 项，均通过。Python 用同一批用例在 3.12 和 3.9 重跑，不重复累计为 236。Node 是前端逻辑测试，不能冒充 59 项完整浏览器端到端测试。右侧错误路径有实际失败反例和修复记录。当前环境为 macOS，不能声称 Windows 实机已验证。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验收证据/python.log</a:t>
            </a:r>
          </a:p>
          <a:p xmlns:a="http://schemas.openxmlformats.org/drawingml/2006/main">
            <a:r>
              <a:t>验收证据/system-python39.log</a:t>
            </a:r>
          </a:p>
          <a:p xmlns:a="http://schemas.openxmlformats.org/drawingml/2006/main">
            <a:r>
              <a:t>验收证据/node.log</a:t>
            </a:r>
          </a:p>
          <a:p xmlns:a="http://schemas.openxmlformats.org/drawingml/2006/main">
            <a:r>
              <a:t>验收证据/independent-http-review.md</a:t>
            </a:r>
          </a:p>
          <a:p xmlns:a="http://schemas.openxmlformats.org/drawingml/2006/main">
            <a:r>
              <a:t>验收证据/修复前反例/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专业调研记录含 31 个来源与 12 类可迁移机制。本页保留直接影响已实现产品的五类，避免未经实测的性能排名。NBA/AWS 已有指标解释；Synergy 投篮点关联视频，Hudl 报告链接视频；Second Spectrum 公告说明增强内容建立在追踪能力上；HomeCourt FAQ 明确拍摄条件。橙狮内容来自用户提供展会照片，只支持展示机制的观察，照片不支持其实际精度或部署范围的独立结论。本 deck 不复制或再分发用户照片。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https://www.nba.com/news/intro-to-expected-field-goal-percentage</a:t>
            </a:r>
          </a:p>
          <a:p xmlns:a="http://schemas.openxmlformats.org/drawingml/2006/main">
            <a:r>
              <a:t>https://aws.amazon.com/blogs/media/how-the-nba-and-aws-built-an-ai-system-to-measure-what-actually-wins-basketball-games/</a:t>
            </a:r>
          </a:p>
          <a:p xmlns:a="http://schemas.openxmlformats.org/drawingml/2006/main">
            <a:r>
              <a:t>https://support.synergysports.com/support/solutions/articles/77000576098-shot-chart-viewing-and-tagging-in-the-synergy-editor</a:t>
            </a:r>
          </a:p>
          <a:p xmlns:a="http://schemas.openxmlformats.org/drawingml/2006/main">
            <a:r>
              <a:t>https://www.hudl.com/products/assist/basketball</a:t>
            </a:r>
          </a:p>
          <a:p xmlns:a="http://schemas.openxmlformats.org/drawingml/2006/main">
            <a:r>
              <a:t>https://investors.geniussports.com/news/news-details/2023/NBA-and-Genius-Sports--Second-Spectrum-Expand-Partnership-to-Deepen-NBA-League-Pass-Innovations-With-Enhanced-Basketball-Analytics-and-Develop-New-Next-Gen-Platform/default.aspx</a:t>
            </a:r>
          </a:p>
          <a:p xmlns:a="http://schemas.openxmlformats.org/drawingml/2006/main">
            <a:r>
              <a:t>https://www.homecourt.ai/faq/setup</a:t>
            </a:r>
          </a:p>
          <a:p xmlns:a="http://schemas.openxmlformats.org/drawingml/2006/main">
            <a:r>
              <a:t>用户提供的橙狮 Smartshot 展会照片</a:t>
            </a:r>
          </a:p>
          <a:p xmlns:a="http://schemas.openxmlformats.org/drawingml/2006/main">
            <a:r>
              <a:t>docs/专业产品研究.md</a:t>
            </a:r>
          </a:p>
          <a:p xmlns:a="http://schemas.openxmlformats.org/drawingml/2006/main">
            <a:r>
              <a:t>docs/sources.json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数字来自本项目专业产品研究与 sources.json 下载检查记录，公开社区维护者 shufinskiy/nba_data，年份 2023 代表 2023–24 赛季。四场对应 ID0022300059 / 0022300385 / 0022301083 / 0022301131，投篮行数174 /196 /185 /178。目标最后一场逐回合文件含548条事件。只证明匹配比赛记录存在，尚未完成所有事件ID的联结检查。不将社区归档许可泛化为 NBA 视频公开传播许可，也不把社区数据称作赛方已提供资料。没有把真实比赛数据作为默认演示视频。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https://github.com/shufinskiy/nba_data</a:t>
            </a:r>
          </a:p>
          <a:p xmlns:a="http://schemas.openxmlformats.org/drawingml/2006/main">
            <a:r>
              <a:t>https://raw.githubusercontent.com/shufinskiy/nba_data/main/list_data.txt</a:t>
            </a:r>
          </a:p>
          <a:p xmlns:a="http://schemas.openxmlformats.org/drawingml/2006/main">
            <a:r>
              <a:t>docs/专业产品研究.md</a:t>
            </a:r>
          </a:p>
          <a:p xmlns:a="http://schemas.openxmlformats.org/drawingml/2006/main">
            <a:r>
              <a:t>docs/sources.json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本页用可编辑图表展示 demo.json 输入覆盖。3 个回合均提供 xFG、Gravity、回合胜率机会差，共 9 个非空输入。这里既不是传感器测量覆盖率，也不是模型准确率。xFG 和机会差处于规定的 0–1 范围，Gravity 保留输入单位。三项输入均为合成数值。完整数据仍然需要来源与口径检查，视频 SHA-256、时间对应、镜头校准和人工标注检查是另外的验证层。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data/demo.json</a:t>
            </a:r>
          </a:p>
          <a:p xmlns:a="http://schemas.openxmlformats.org/drawingml/2006/main">
            <a:r>
              <a:t>core/validation.py</a:t>
            </a:r>
          </a:p>
          <a:p xmlns:a="http://schemas.openxmlformats.org/drawingml/2006/main">
            <a:r>
              <a:t>core/quality.py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本页采用原生可编辑分发示意，不把本机移动截图冒充公开 Pages 功能。公开 GitHub Pages 是静态网站，只展示固定合成视频与对应数据的交互体验。完整本机产品可从代码仓库下载运行，提供视频上传、项目保存、人工标注、版本恢复和后台成片导出。用户素材不是上传到 GitHub Pages。两个完整 URL 均属于本次明确指定的仓库与页面地址，发布状态由主交付验收验证。尚未提供公网多用户账号、计费或云备份。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https://docs.github.com/en/pages/getting-started-with-github-pages/what-is-github-pages</a:t>
            </a:r>
          </a:p>
          <a:p xmlns:a="http://schemas.openxmlformats.org/drawingml/2006/main">
            <a:r>
              <a:t>https://github.com/dingyucanada/courtlens</a:t>
            </a:r>
          </a:p>
          <a:p xmlns:a="http://schemas.openxmlformats.org/drawingml/2006/main">
            <a:r>
              <a:t>https://dingyucanada.github.io/courtlens/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本页是建议的 12 小时现场执行预案，不是赛事官方分段日程。当前合成演练已完成端到端流程，真实 NBA 数据与正式赛方视频尚需现场验证。视频增强层的证据不足时应退回字幕和边栏解释，不做虚构空间推断。当前公开页与代码由 GitHub 交付，不能将公开发布等同于主办方正式提交或获奖。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https://builderx.csdn.net/bcast-code#challenge</a:t>
            </a:r>
          </a:p>
          <a:p xmlns:a="http://schemas.openxmlformats.org/drawingml/2006/main">
            <a:r>
              <a:t>docs/现场执行手册.md</a:t>
            </a:r>
          </a:p>
          <a:p xmlns:a="http://schemas.openxmlformats.org/drawingml/2006/main">
            <a:r>
              <a:t>docs/规则核验与提交清单.md</a:t>
            </a:r>
          </a:p>
          <a:p xmlns:a="http://schemas.openxmlformats.org/drawingml/2006/main">
            <a:r>
              <a:t>https://github.com/dingyucanada/courtlens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c2b697d3a4f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91e7c34a1249d9" /><Relationship Type="http://schemas.openxmlformats.org/officeDocument/2006/relationships/slideLayout" Target="/ppt/slideLayouts/slideLayout1.xml" Id="R0b23ea6b2eec49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3ea6b2eec49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adf7350b34482" /><Relationship Type="http://schemas.openxmlformats.org/officeDocument/2006/relationships/image" Target="/ppt/media/image.png" Id="R47038b629df840b9" /><Relationship Type="http://schemas.openxmlformats.org/officeDocument/2006/relationships/notesSlide" Target="/ppt/notesSlides/notesSlide1.xml" Id="Rd508bb692877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11374265646a9" /><Relationship Type="http://schemas.openxmlformats.org/officeDocument/2006/relationships/image" Target="/ppt/media/image.jpeg" Id="R26bde72249904c3b" /><Relationship Type="http://schemas.openxmlformats.org/officeDocument/2006/relationships/notesSlide" Target="/ppt/notesSlides/notesSlide2.xml" Id="Rd3252819753f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f30e7cc1d4acf" /><Relationship Type="http://schemas.openxmlformats.org/officeDocument/2006/relationships/chart" Target="/ppt/slides/charts/chart1.xml" Id="R3bc131c4022d4fd5" /><Relationship Type="http://schemas.openxmlformats.org/officeDocument/2006/relationships/notesSlide" Target="/ppt/notesSlides/notesSlide3.xml" Id="R680e9a67a4fb48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376a2fe8e4c39" /><Relationship Type="http://schemas.openxmlformats.org/officeDocument/2006/relationships/chart" Target="/ppt/slides/charts/chart2.xml" Id="R3f0b548aad634c93" /><Relationship Type="http://schemas.openxmlformats.org/officeDocument/2006/relationships/notesSlide" Target="/ppt/notesSlides/notesSlide4.xml" Id="R9ab0cd8cce3f4c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10d00980a4642" /><Relationship Type="http://schemas.openxmlformats.org/officeDocument/2006/relationships/image" Target="/ppt/media/image2.png" Id="Rd871ca65050b4baf" /><Relationship Type="http://schemas.openxmlformats.org/officeDocument/2006/relationships/image" Target="/ppt/media/image3.png" Id="Rf398cc79037a4c5d" /><Relationship Type="http://schemas.openxmlformats.org/officeDocument/2006/relationships/notesSlide" Target="/ppt/notesSlides/notesSlide5.xml" Id="Rbb0dc7a740d644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8ed3bcd554d0a" /><Relationship Type="http://schemas.openxmlformats.org/officeDocument/2006/relationships/notesSlide" Target="/ppt/notesSlides/notesSlide6.xml" Id="R397f11e3f92947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7708fe53046ea" /><Relationship Type="http://schemas.openxmlformats.org/officeDocument/2006/relationships/image" Target="/ppt/media/image2.jpeg" Id="R09bafd618a1c45b7" /><Relationship Type="http://schemas.openxmlformats.org/officeDocument/2006/relationships/notesSlide" Target="/ppt/notesSlides/notesSlide7.xml" Id="Re8174976a1024a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780da7e71437d" /><Relationship Type="http://schemas.openxmlformats.org/officeDocument/2006/relationships/notesSlide" Target="/ppt/notesSlides/notesSlide8.xml" Id="R1b915d2e268f47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5a2f863ad4d17" /><Relationship Type="http://schemas.openxmlformats.org/officeDocument/2006/relationships/chart" Target="/ppt/slides/charts/chart3.xml" Id="R6eee3a4f1d914936" /><Relationship Type="http://schemas.openxmlformats.org/officeDocument/2006/relationships/notesSlide" Target="/ppt/notesSlides/notesSlide9.xml" Id="R5be9fec319664d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e8cce78cb4efa" /><Relationship Type="http://schemas.openxmlformats.org/officeDocument/2006/relationships/notesSlide" Target="/ppt/notesSlides/notesSlide10.xml" Id="R4a48dca806744d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3a5ddd9b94a50" /><Relationship Type="http://schemas.openxmlformats.org/officeDocument/2006/relationships/chart" Target="/ppt/slides/charts/chart4.xml" Id="Rfbfd0e030e054926" /><Relationship Type="http://schemas.openxmlformats.org/officeDocument/2006/relationships/notesSlide" Target="/ppt/notesSlides/notesSlide11.xml" Id="Rb341acb506e74b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499d2cf304339" /><Relationship Type="http://schemas.openxmlformats.org/officeDocument/2006/relationships/chart" Target="/ppt/slides/charts/chart5.xml" Id="R52bcea7f313d4c37" /><Relationship Type="http://schemas.openxmlformats.org/officeDocument/2006/relationships/notesSlide" Target="/ppt/notesSlides/notesSlide12.xml" Id="R2beb020e206346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d8374e2524e45" /><Relationship Type="http://schemas.openxmlformats.org/officeDocument/2006/relationships/notesSlide" Target="/ppt/notesSlides/notesSlide13.xml" Id="Rb37a9119762449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8f59912f64476" /><Relationship Type="http://schemas.openxmlformats.org/officeDocument/2006/relationships/notesSlide" Target="/ppt/notesSlides/notesSlide14.xml" Id="Rd108e69a27084bb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输入 xFG</c:v>
          </c:tx>
          <c:spPr>
            <a:solidFill xmlns:a="http://schemas.openxmlformats.org/drawingml/2006/main">
              <a:srgbClr val="17408B"/>
            </a:solidFill>
          </c:spPr>
          <c:cat>
            <c:strRef>
              <c:f>'Chart Data'!$A$2:$A$4</c:f>
              <c:strCache>
                <c:ptCount val="3"/>
                <c:pt idx="0">
                  <c:v>P01（命中）</c:v>
                </c:pt>
                <c:pt idx="1">
                  <c:v>P02（未中）</c:v>
                </c:pt>
                <c:pt idx="2">
                  <c:v>P03（命中）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0.38</c:v>
                </c:pt>
                <c:pt idx="1">
                  <c:v>0.71</c:v>
                </c:pt>
                <c:pt idx="2">
                  <c:v>0.62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071B36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胜率机会差贡献</c:v>
          </c:tx>
          <c:spPr>
            <a:solidFill xmlns:a="http://schemas.openxmlformats.org/drawingml/2006/main">
              <a:srgbClr val="17408B"/>
            </a:solidFill>
          </c:spPr>
          <c:cat>
            <c:strRef>
              <c:f>'Chart Data'!$A$2:$A$4</c:f>
              <c:strCache>
                <c:ptCount val="3"/>
                <c:pt idx="0">
                  <c:v>P02  总分 26.9</c:v>
                </c:pt>
                <c:pt idx="1">
                  <c:v>P03  总分 42.2</c:v>
                </c:pt>
                <c:pt idx="2">
                  <c:v>P01  总分 76.0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14</c:v>
                </c:pt>
                <c:pt idx="1">
                  <c:v>30.8</c:v>
                </c:pt>
                <c:pt idx="2">
                  <c:v>57.4</c:v>
                </c:pt>
              </c:numCache>
            </c:numRef>
          </c:val>
        </c:ser>
        <c:ser>
          <c:idx val="1"/>
          <c:order val="1"/>
          <c:tx>
            <c:v>投篮难度贡献</c:v>
          </c:tx>
          <c:spPr>
            <a:solidFill xmlns:a="http://schemas.openxmlformats.org/drawingml/2006/main">
              <a:srgbClr val="7292C7"/>
            </a:solidFill>
          </c:spPr>
          <c:cat>
            <c:strRef>
              <c:f>'Chart Data'!$C$2:$C$4</c:f>
              <c:strCache>
                <c:ptCount val="3"/>
                <c:pt idx="0">
                  <c:v>P02  总分 26.9</c:v>
                </c:pt>
                <c:pt idx="1">
                  <c:v>P03  总分 42.2</c:v>
                </c:pt>
                <c:pt idx="2">
                  <c:v>P01  总分 76.0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5.8</c:v>
                </c:pt>
                <c:pt idx="1">
                  <c:v>7.6</c:v>
                </c:pt>
                <c:pt idx="2">
                  <c:v>12.4</c:v>
                </c:pt>
              </c:numCache>
            </c:numRef>
          </c:val>
        </c:ser>
        <c:ser>
          <c:idx val="2"/>
          <c:order val="2"/>
          <c:tx>
            <c:v>结果反差贡献</c:v>
          </c:tx>
          <c:spPr>
            <a:solidFill xmlns:a="http://schemas.openxmlformats.org/drawingml/2006/main">
              <a:srgbClr val="C9082A"/>
            </a:solidFill>
          </c:spPr>
          <c:cat>
            <c:strRef>
              <c:f>'Chart Data'!$E$2:$E$4</c:f>
              <c:strCache>
                <c:ptCount val="3"/>
                <c:pt idx="0">
                  <c:v>P02  总分 26.9</c:v>
                </c:pt>
                <c:pt idx="1">
                  <c:v>P03  总分 42.2</c:v>
                </c:pt>
                <c:pt idx="2">
                  <c:v>P01  总分 76.0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7.1</c:v>
                </c:pt>
                <c:pt idx="1">
                  <c:v>3.8</c:v>
                </c:pt>
                <c:pt idx="2">
                  <c:v>6.2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FFFFFF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E0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A46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通过用例数</c:v>
          </c:tx>
          <c:spPr>
            <a:solidFill xmlns:a="http://schemas.openxmlformats.org/drawingml/2006/main">
              <a:srgbClr val="17408B"/>
            </a:solidFill>
          </c:spPr>
          <c:cat>
            <c:strRef>
              <c:f>'Chart Data'!$A$2:$A$3</c:f>
              <c:strCache>
                <c:ptCount val="2"/>
                <c:pt idx="0">
                  <c:v>Python 产品测试</c:v>
                </c:pt>
                <c:pt idx="1">
                  <c:v>Node 前端逻辑测试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118</c:v>
                </c:pt>
                <c:pt idx="1">
                  <c:v>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625" b="1">
                  <a:solidFill>
                    <a:srgbClr val="17408B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E0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投篮记录行数</c:v>
          </c:tx>
          <c:spPr>
            <a:solidFill xmlns:a="http://schemas.openxmlformats.org/drawingml/2006/main">
              <a:srgbClr val="17408B"/>
            </a:solidFill>
          </c:spPr>
          <c:cat>
            <c:strRef>
              <c:f>'Chart Data'!$A$2:$A$5</c:f>
              <c:strCache>
                <c:ptCount val="4"/>
                <c:pt idx="0">
                  <c:v>11-28</c:v>
                </c:pt>
                <c:pt idx="1">
                  <c:v>12-22</c:v>
                </c:pt>
                <c:pt idx="2">
                  <c:v>03-31</c:v>
                </c:pt>
                <c:pt idx="3">
                  <c:v>04-07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174</c:v>
                </c:pt>
                <c:pt idx="1">
                  <c:v>196</c:v>
                </c:pt>
                <c:pt idx="2">
                  <c:v>185</c:v>
                </c:pt>
                <c:pt idx="3">
                  <c:v>178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071B36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已提供的回合数</c:v>
          </c:tx>
          <c:spPr>
            <a:solidFill xmlns:a="http://schemas.openxmlformats.org/drawingml/2006/main">
              <a:srgbClr val="17408B"/>
            </a:solidFill>
          </c:spPr>
          <c:cat>
            <c:strRef>
              <c:f>'Chart Data'!$A$2:$A$4</c:f>
              <c:strCache>
                <c:ptCount val="3"/>
                <c:pt idx="0">
                  <c:v>xFG</c:v>
                </c:pt>
                <c:pt idx="1">
                  <c:v>Gravity</c:v>
                </c:pt>
                <c:pt idx="2">
                  <c:v>胜率机会差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071B36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0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6E0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910B5-D006-4E89-9557-FB7F1AEB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9BAB2-5AD9-4174-812C-0DBE5872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CourtLens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55A47-3555-4504-B1AE-8AC683CC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5429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rPr>
              <a:t>观赛透镜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8CDAF-1CCA-474B-9EE4-A4B8644E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953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可核验的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篮球视频解读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38b629df840b9"/>
          <a:stretch xmlns:a="http://schemas.openxmlformats.org/drawingml/2006/main"/>
        </p:blipFill>
        <p:spPr>
          <a:xfrm xmlns:a="http://schemas.openxmlformats.org/drawingml/2006/main">
            <a:off x="5460471" y="2152650"/>
            <a:ext cx="6214533" cy="34956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2C2D9-B9A4-475A-9B52-A3614A8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让回合选择、画面标注和解说</a:t>
            </a:r>
          </a:p>
          <a:p xmlns:a="http://schemas.openxmlformats.org/drawingml/2006/main">
            <a:pPr>
              <a:defRPr sz="2175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共享同一条证据链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EE757-8ED8-40F5-97F5-3C9C8BA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rPr>
              <a:t>独立参赛项目，演示视频与指标为合成素材，不代表 NBA 官方产品或授权</a:t>
            </a:r>
          </a:p>
        </p:txBody>
      </p:sp>
    </p:spTree>
    <p:extLst>
      <p:ext uri="{BB962C8B-B14F-4D97-AF65-F5344CB8AC3E}">
        <p14:creationId xmlns:p14="http://schemas.microsoft.com/office/powerpoint/2010/main" val="885513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F7401-3B59-432B-8428-23862A4C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一个回合，同时看到画面与解释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C3DA9-F58A-4844-8198-CE823F74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de72249904c3b"/>
          <a:stretch xmlns:a="http://schemas.openxmlformats.org/drawingml/2006/main"/>
        </p:blipFill>
        <p:spPr>
          <a:xfrm xmlns:a="http://schemas.openxmlformats.org/drawingml/2006/main">
            <a:off x="609600" y="1362075"/>
            <a:ext cx="9525000" cy="535781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08786-4FE3-4E63-A50F-72DD5F66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0497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选片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831B7-7C97-4C84-9410-12FF817B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71700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按编辑分</a:t>
            </a:r>
          </a:p>
          <a:p xmlns:a="http://schemas.openxmlformats.org/drawingml/2006/main">
            <a:pPr>
              <a:def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回看回合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FB5ED-498C-449C-A437-04466876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5757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解读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A51F3-4701-463B-A53D-EEDB2A38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24300"/>
            <a:ext cx="1295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球迷视角</a:t>
            </a:r>
          </a:p>
          <a:p xmlns:a="http://schemas.openxmlformats.org/drawingml/2006/main">
            <a:pPr>
              <a:def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分析师视角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6B2C4-9D8E-4394-8B66-161591CB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911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A7F64-BE55-41B9-991C-2D40AC81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57850"/>
            <a:ext cx="129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点击证据</a:t>
            </a:r>
          </a:p>
          <a:p xmlns:a="http://schemas.openxmlformats.org/drawingml/2006/main">
            <a:pPr>
              <a:def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定位画面</a:t>
            </a:r>
          </a:p>
        </p:txBody>
      </p:sp>
    </p:spTree>
    <p:extLst>
      <p:ext uri="{BB962C8B-B14F-4D97-AF65-F5344CB8AC3E}">
        <p14:creationId xmlns:p14="http://schemas.microsoft.com/office/powerpoint/2010/main" val="1706663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35F1E-2FD0-4164-B0E4-D008A57C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出手前的概率与落球后的结果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A5748-D84A-4C01-A95E-B926246E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BAAB2-B02A-4615-9426-2648BDEF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三次演练出手的输入 xFG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7810500" cy="381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c131c4022d4fd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31C10-E0C0-41A5-88D7-3AB4E98B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62175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550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71%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A96F0-397F-423B-B45F-9B573291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33725"/>
            <a:ext cx="266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这次仍然未中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A130C-DDF9-4E12-8F3C-EC87BC86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67150"/>
            <a:ext cx="265747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单次结果不能验证</a:t>
            </a:r>
          </a:p>
          <a:p xmlns:a="http://schemas.openxmlformats.org/drawingml/2006/main">
            <a:pPr>
              <a:defRPr sz="18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模型是否校准。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xFG 表示单次出手</a:t>
            </a:r>
          </a:p>
          <a:p xmlns:a="http://schemas.openxmlformats.org/drawingml/2006/main">
            <a:pPr>
              <a:defRPr sz="18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的预测命中概率。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49405-8907-4204-BDFA-6C48747F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合成输入 n=3。数据来自 data/demo.json，未进行真实 NBA 预测准确率评估</a:t>
            </a:r>
          </a:p>
        </p:txBody>
      </p:sp>
    </p:spTree>
    <p:extLst>
      <p:ext uri="{BB962C8B-B14F-4D97-AF65-F5344CB8AC3E}">
        <p14:creationId xmlns:p14="http://schemas.microsoft.com/office/powerpoint/2010/main" val="1042178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2E74A-F624-4E49-A49F-DEC2C09C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每一分筛选权重都可以复算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A920D-6A58-477B-9639-EF7EB7BC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67213-D572-4E5D-A503-1086A9DE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编辑筛选分 0–100，仅用于选择复盘片段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90550" y="1981200"/>
          <a:ext xmlns:a="http://schemas.openxmlformats.org/drawingml/2006/main" cx="10953750" cy="3590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0b548aad634c9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8D114-D907-4F38-AE52-11B53C1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70 × 机会差  +  20 × (1 − xFG)  +  10 × 结果反差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CFF44-3727-47B8-A30F-05EC7396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合成演练。命中时结果反差为 1−xFG，未中时为 xFG。Gravity 不参与排序</a:t>
            </a:r>
          </a:p>
        </p:txBody>
      </p:sp>
    </p:spTree>
    <p:extLst>
      <p:ext uri="{BB962C8B-B14F-4D97-AF65-F5344CB8AC3E}">
        <p14:creationId xmlns:p14="http://schemas.microsoft.com/office/powerpoint/2010/main" val="828832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78812-24F3-493A-B513-85F8B3E5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结果字幕跟随视频时间出现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C501B-C11C-4505-8773-9E0D7254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1ca65050b4baf"/>
          <a:stretch xmlns:a="http://schemas.openxmlformats.org/drawingml/2006/main"/>
        </p:blipFill>
        <p:spPr>
          <a:xfrm xmlns:a="http://schemas.openxmlformats.org/drawingml/2006/main">
            <a:off x="612246" y="1524000"/>
            <a:ext cx="5300133" cy="298132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8cc79037a4c5d"/>
          <a:stretch xmlns:a="http://schemas.openxmlformats.org/drawingml/2006/main"/>
        </p:blipFill>
        <p:spPr>
          <a:xfrm xmlns:a="http://schemas.openxmlformats.org/drawingml/2006/main">
            <a:off x="6279621" y="1524000"/>
            <a:ext cx="5300133" cy="29813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4F589-35A3-420E-A666-042CBA3E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5219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9.20 s  出手阶段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2ECE0-EE30-406D-B7AF-DC6A46B3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57725"/>
            <a:ext cx="5219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10.70 s  结果阶段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D3404-597E-4F39-B414-BA19355A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095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B38E0-09EF-4A32-8702-B2BF4A1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2752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输入事件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7DD64-94AD-4A9A-98BE-E4C974A6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出手 9.0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2EDAD-E533-4CD7-884B-B724F3CD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57800"/>
            <a:ext cx="3095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C9082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15690-A014-4C1D-BF14-C792E926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53050"/>
            <a:ext cx="2752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结果边界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AE246-654C-4A45-9802-9AFB55C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724525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结果 10.5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4C909-DFCA-466E-BD9D-9818E2C2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257800"/>
            <a:ext cx="30956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D7D2D-651F-459A-9A21-90350016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353050"/>
            <a:ext cx="2752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结果字幕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2BB74-F377-407B-9943-92B6EAC3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724525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10.5–12.0 s</a:t>
            </a:r>
          </a:p>
        </p:txBody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05225" y="5681663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648575" y="5681663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CD86E-AFFD-48D5-A05D-0176C13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两帧均来自实际导出的合成 MP4。整段 36 秒、25 fps、900 帧，含 12 条同步字幕</a:t>
            </a:r>
          </a:p>
        </p:txBody>
      </p:sp>
    </p:spTree>
    <p:extLst>
      <p:ext uri="{BB962C8B-B14F-4D97-AF65-F5344CB8AC3E}">
        <p14:creationId xmlns:p14="http://schemas.microsoft.com/office/powerpoint/2010/main" val="1348955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4239B-3E25-4F66-99FC-BF785C16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一句解释的证据来路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5EA82-A528-4CE9-870D-A294C90C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D265C-9E4A-48D9-BAB4-1C46FC6C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“这次出手的输入预期命中概率为 38%”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7988B-2D0C-4135-B486-8CCDBF82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622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7BA97-2A0A-44A7-99B9-D67806D8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输入记录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29454-1ED6-472B-8391-740D885D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20193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P01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xfg_pct = 0.38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合成来源声明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145F0-45F9-4ED0-B3EC-D0CFC1E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9850"/>
            <a:ext cx="23622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001C9-93FF-4B2B-9D44-5C58C48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717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证据条目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33752-10EF-4CE8-9A13-AD39C62A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24225"/>
            <a:ext cx="20193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p01:metric:xfg_pct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单位为概率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时间锚为 9.0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2025E-007B-4352-8E0F-FD9E58BB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23622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DC4BC-0C1B-4C84-A50C-9F1C1131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717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解读声明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FC201-2791-4C81-987D-DBA84DAA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24225"/>
            <a:ext cx="20193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p01:claim:xfg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引用该证据 ID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保留指标含义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00B7E-1078-4083-B6D9-D929E454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09850"/>
            <a:ext cx="23622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C9082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4EBFC-5E32-4346-B18F-2C31DA2A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717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同步输出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171DD-97EC-4E69-B2E8-7C6C7F0F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24225"/>
            <a:ext cx="20193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回放与字幕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点击返回画面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导出保留引用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71800" y="370998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38825" y="370998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705850" y="370998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16A58-F103-46CF-ACF6-0C6C7B41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缺失数据保持为空，证据不足的因果问题明确拒答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9AD65-9B10-4C05-A210-B28ACE90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当前 Agent 为可检查的本地规则与证据工具链，可选云规划器尚未完成真实云调用</a:t>
            </a:r>
          </a:p>
        </p:txBody>
      </p:sp>
    </p:spTree>
    <p:extLst>
      <p:ext uri="{BB962C8B-B14F-4D97-AF65-F5344CB8AC3E}">
        <p14:creationId xmlns:p14="http://schemas.microsoft.com/office/powerpoint/2010/main" val="1460701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41789-E0C6-4E7F-B085-6516538F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人工复核可以直接落到画面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9D708-5606-4488-8236-C01699B5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afd618a1c45b7"/>
          <a:stretch xmlns:a="http://schemas.openxmlformats.org/drawingml/2006/main"/>
        </p:blipFill>
        <p:spPr>
          <a:xfrm xmlns:a="http://schemas.openxmlformats.org/drawingml/2006/main">
            <a:off x="609600" y="1457325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81204-BF79-43C5-899F-95C35EF9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114550"/>
            <a:ext cx="1428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箭头</a:t>
            </a:r>
          </a:p>
          <a:p xmlns:a="http://schemas.openxmlformats.org/drawingml/2006/main">
            <a:pPr>
              <a:defRPr sz="26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区域</a:t>
            </a:r>
          </a:p>
          <a:p xmlns:a="http://schemas.openxmlformats.org/drawingml/2006/main">
            <a:pPr>
              <a:defRPr sz="26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文字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DD0D6-ED0C-4DDF-A45A-1547C7A5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67175"/>
            <a:ext cx="1428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每条标注</a:t>
            </a:r>
          </a:p>
          <a:p xmlns:a="http://schemas.openxmlformats.org/drawingml/2006/main">
            <a:pPr>
              <a:defRPr sz="187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有时间区间</a:t>
            </a:r>
          </a:p>
          <a:p xmlns:a="http://schemas.openxmlformats.org/drawingml/2006/main">
            <a:pPr>
              <a:defRPr sz="187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和复核状态</a:t>
            </a:r>
          </a:p>
        </p:txBody>
      </p:sp>
    </p:spTree>
    <p:extLst>
      <p:ext uri="{BB962C8B-B14F-4D97-AF65-F5344CB8AC3E}">
        <p14:creationId xmlns:p14="http://schemas.microsoft.com/office/powerpoint/2010/main" val="1643869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2A717-5C5D-4D76-A05D-F7162D6C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本机产品的职责分层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D0014-E609-4594-86C4-B610BF2B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71D2-539F-43A8-90CD-8758480C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4376E-89C8-41B8-AF8D-34225DC6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输入与适配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053DA-489F-405C-9669-8CE4A883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视频 + CSV / JSON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格式、单位与时间检查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10B96-641E-4421-8D66-8D5807BD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19275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50A18-DEBE-4AAF-BA1B-D258A33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812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证据分析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7731C-5DC5-494F-9D9E-F6FB0042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已知指标与公开排序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声明、证据、字幕计划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787E0-2598-4617-B192-432D7D4B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19275"/>
            <a:ext cx="2857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D65E4-6CCF-4C0E-BDDE-E3643EF1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812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浏览器复盘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BBC72-F1E8-415C-BF2E-67E15084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33650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回合选择与同步回看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人工编辑和问答</a:t>
            </a:r>
          </a:p>
        </p:txBody>
      </p:sp>
      <p:cxnSp>
        <p:nvCxnSpPr>
          <p:cNvPr id="38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67100" y="26193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6193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C6666-2F6F-41FD-9E5B-35AB8128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857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4F616-8874-4637-8649-59D6EB61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项目与版本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B19AA-C797-4C2E-8666-B0ADC71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514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SQLite 持久保存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冲突检查与版本恢复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4F247-8B10-40DF-815D-BFB181B5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81475"/>
            <a:ext cx="2857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9DB10-5DF0-4956-9BA0-959CBB66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导出任务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50DB7-F9DD-4365-A6C0-995AFAE2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95850"/>
            <a:ext cx="2514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固定数据与原片指纹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支持进度、失败与取消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69CC2-038B-458B-A404-4254F3D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81475"/>
            <a:ext cx="2857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C9082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227F4-E520-440D-802E-BA12F490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434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交付文件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A1FFF-8B96-4CC9-9142-E035D01B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95850"/>
            <a:ext cx="2514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MP4 + VTT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分析 JSON + 可选配音</a:t>
            </a:r>
          </a:p>
        </p:txBody>
      </p:sp>
      <p:cxnSp>
        <p:nvCxnSpPr>
          <p:cNvPr id="4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67100" y="49720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24750" y="49720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096000" y="341947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DDADD-7A38-4A60-BA2C-A4AC71FF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Python 本机服务，FFmpeg 渲染。云规划器与本机证据链解耦</a:t>
            </a:r>
          </a:p>
        </p:txBody>
      </p:sp>
    </p:spTree>
    <p:extLst>
      <p:ext uri="{BB962C8B-B14F-4D97-AF65-F5344CB8AC3E}">
        <p14:creationId xmlns:p14="http://schemas.microsoft.com/office/powerpoint/2010/main" val="1946584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55139-222C-4908-9C4F-DA569FCC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回归测试覆盖实际故障边界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34719-A0D2-418A-B0D8-2E3E7924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666750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ee3a4f1d91493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575BB-BAC7-43E5-9400-2A209C81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638300"/>
            <a:ext cx="3705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已覆盖的错误路径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7F00D-F2AE-4F2F-B742-169C3902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648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视频不足一帧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5047E-BF90-4CE3-82EF-4E82922B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47975"/>
            <a:ext cx="3648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拒绝导出，避免用音频时长掩盖缺帧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2875F-AAD5-4EF1-8C1F-2873C12A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90925"/>
            <a:ext cx="3648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修改与导出并发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2E770-A796-4FBE-A4C6-2BE78063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648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任务绑定固定版本，保留可复现输出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80B1C-D262-4ED9-BC52-DFE4ABA3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81550"/>
            <a:ext cx="3648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任务取消和失败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48879-03CE-4364-8E84-A04FBFA8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29225"/>
            <a:ext cx="36480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清理中间文件后再进入终态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EF1AC-AE06-4D5C-96B6-BCB23150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2026-09-22 本机验收。用例数不代表模型准确率，也不代表完整安全认证</a:t>
            </a:r>
          </a:p>
        </p:txBody>
      </p:sp>
    </p:spTree>
    <p:extLst>
      <p:ext uri="{BB962C8B-B14F-4D97-AF65-F5344CB8AC3E}">
        <p14:creationId xmlns:p14="http://schemas.microsoft.com/office/powerpoint/2010/main" val="522550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33304-155E-41D7-B3CF-630DA049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专业产品研究如何进入产品设计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13D93-6859-4F17-93FB-063004CC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76525"/>
                <a:gridCol w="3914775"/>
                <a:gridCol w="4381500"/>
              </a:tblGrid>
              <a:tr h="682625"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参考对象</a:t>
                      </a:r>
                    </a:p>
                  </a:txBody>
                  <a:tcPr marL="91440" marR="91440" marT="45720" marB="45720" anchor="ctr">
                    <a:solidFill>
                      <a:srgbClr val="071B36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可核实的机制</a:t>
                      </a:r>
                    </a:p>
                  </a:txBody>
                  <a:tcPr marL="91440" marR="91440" marT="45720" marB="45720" anchor="ctr">
                    <a:solidFill>
                      <a:srgbClr val="071B36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CourtLens 的落点</a:t>
                      </a:r>
                    </a:p>
                  </a:txBody>
                  <a:tcPr marL="91440" marR="91440" marT="45720" marB="45720" anchor="ctr">
                    <a:solidFill>
                      <a:srgbClr val="071B36"/>
                    </a:solidFill>
                  </a:tcPr>
                </a:tc>
              </a:tr>
              <a:tr h="682625"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408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NBA / AWS</a:t>
                      </a:r>
                    </a:p>
                  </a:txBody>
                  <a:tcPr marL="91440" marR="91440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解释出手难度与情境价值</a:t>
                      </a:r>
                    </a:p>
                  </a:txBody>
                  <a:tcPr marL="91440" marR="91440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保留指标定义，分时展示结果</a:t>
                      </a:r>
                    </a:p>
                  </a:txBody>
                  <a:tcPr marL="91440" marR="91440" marT="45720" marB="45720" anchor="ctr">
                    <a:solidFill>
                      <a:srgbClr val="EFF3F8"/>
                    </a:solidFill>
                  </a:tcPr>
                </a:tc>
              </a:tr>
              <a:tr h="682625"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408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Synergy / Hudl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统计和投篮点关联视频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证据卡定位回合与时间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408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Second Spectrum</a:t>
                      </a:r>
                    </a:p>
                  </a:txBody>
                  <a:tcPr marL="91440" marR="91440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追踪数据驱动画面增强</a:t>
                      </a:r>
                    </a:p>
                  </a:txBody>
                  <a:tcPr marL="91440" marR="91440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有校准与时间证据才显示轨迹</a:t>
                      </a:r>
                    </a:p>
                  </a:txBody>
                  <a:tcPr marL="91440" marR="91440" marT="45720" marB="45720" anchor="ctr">
                    <a:solidFill>
                      <a:srgbClr val="EFF3F8"/>
                    </a:solidFill>
                  </a:tcPr>
                </a:tc>
              </a:tr>
              <a:tr h="682625"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408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HomeCourt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明确拍摄与识别条件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导入质量提示与人工修正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408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橙狮 Smartshot</a:t>
                      </a:r>
                    </a:p>
                  </a:txBody>
                  <a:tcPr marL="91440" marR="91440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现场图示呈现运动反馈</a:t>
                      </a:r>
                    </a:p>
                  </a:txBody>
                  <a:tcPr marL="91440" marR="91440" marT="45720" marB="45720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 lIns="133350" tIns="142875" rIns="152400" bIns="1428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A4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用原片、标注和报告完成复盘</a:t>
                      </a:r>
                    </a:p>
                  </a:txBody>
                  <a:tcPr marL="91440" marR="91440" marT="45720" marB="45720" anchor="ctr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A033C-33EE-4788-9441-EAAA5326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对比的是公开机制，不是厂商精度排名。橙狮依据用户展会照片，未独立验证其技术指标</a:t>
            </a:r>
          </a:p>
        </p:txBody>
      </p:sp>
    </p:spTree>
    <p:extLst>
      <p:ext uri="{BB962C8B-B14F-4D97-AF65-F5344CB8AC3E}">
        <p14:creationId xmlns:p14="http://schemas.microsoft.com/office/powerpoint/2010/main" val="1436176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D0740-0A0C-4399-A1DD-BAE3E19C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真实数据接入从可核验的记录开始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D12C4-39D4-4015-B2C6-65A0C7D0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6C0FE-DBD9-4444-9CEE-35D1CC1E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已检索到的 2023–24 赛季 HOU / DAL 投篮表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7886700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fd0e030e05492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03798-A3C2-49D6-B5A7-65E683E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764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0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178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D2907-A86A-4B75-9582-7DA7A90F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051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投篮记录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C0F50-C593-426D-B032-526C2A5A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886200"/>
            <a:ext cx="238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548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8DA39-2FC9-4E93-93FB-707EECE8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同场逐回合事件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6E79F-53A9-4921-9DB6-47EED210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72100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2024-04-07</a:t>
            </a:r>
          </a:p>
          <a:p xmlns:a="http://schemas.openxmlformats.org/drawingml/2006/main">
            <a:pPr>
              <a:defRPr sz="15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Game ID 0022301131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5096E-9C86-41DB-9A74-08E316EF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社区归档可用性核查。尚未逐条验证事件联结，也不替代赛方正式数据和素材授权</a:t>
            </a:r>
          </a:p>
        </p:txBody>
      </p:sp>
    </p:spTree>
    <p:extLst>
      <p:ext uri="{BB962C8B-B14F-4D97-AF65-F5344CB8AC3E}">
        <p14:creationId xmlns:p14="http://schemas.microsoft.com/office/powerpoint/2010/main" val="879538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5489D-0713-4D80-8060-3CECC8E2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演练输入的完整性检查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DB5BF-4D2D-44C9-8919-A352CE20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16046-B7BB-4F59-B3B8-9B437923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3 个回合，每个回合提供 3 项指标输入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740092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bcea7f313d4c3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42D18-ADA1-48A0-A64E-0DE6EDC6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143125"/>
            <a:ext cx="28956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9 /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11FFA-CC62-4E98-AA54-AAB0B81F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956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指标字段已提供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FABCB-2042-4B70-8FCB-498AE6B5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005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正式数据还需复核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935A2-C692-4BA8-972A-4AC80B3E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52950"/>
            <a:ext cx="2914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指标的定义与来源</a:t>
            </a:r>
          </a:p>
          <a:p xmlns:a="http://schemas.openxmlformats.org/drawingml/2006/main">
            <a:pPr>
              <a:defRPr sz="1800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视频身份与时间锚</a:t>
            </a:r>
          </a:p>
          <a:p xmlns:a="http://schemas.openxmlformats.org/drawingml/2006/main">
            <a:pPr>
              <a:defRPr sz="1800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人工标注的画面证据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75CF1-E75E-4ED6-B4AC-AD45B39D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合成样例的字段覆盖，单位为回合数。完整性不能证明来源真实或模型准确</a:t>
            </a:r>
          </a:p>
        </p:txBody>
      </p:sp>
    </p:spTree>
    <p:extLst>
      <p:ext uri="{BB962C8B-B14F-4D97-AF65-F5344CB8AC3E}">
        <p14:creationId xmlns:p14="http://schemas.microsoft.com/office/powerpoint/2010/main" val="14029143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A5A8D-87EF-47BC-9301-4E7A24BD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071B36"/>
                </a:solidFill>
                <a:latin typeface="Hiragino Sans GB"/>
                <a:ea typeface="Hiragino Sans GB"/>
                <a:cs typeface="Hiragino Sans GB"/>
              </a:rPr>
              <a:t>公开体验与完整本机产品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02924-7045-4D7E-A7E5-078304BA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CA041-6CC3-45BF-AF70-0AEE0FB6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https://github.com/dingyucanada/courtlens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0EF4C-F838-47C1-A0AC-F0BA3D43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238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17408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90043-F91E-4D7A-A84E-00E20971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89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公开浏览器演示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123DD-A346-4C4E-B165-C70AA2CF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895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固定的合成视频与数据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回放、指标展示和证据定位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440C5-D740-4E6B-A4D5-430F7DDE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5238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19050">
            <a:solidFill>
              <a:srgbClr val="C9082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D1DEB-C312-4BC9-9FE4-B364CB9F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489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C9082A"/>
                </a:solidFill>
                <a:latin typeface="Hiragino Sans GB"/>
                <a:ea typeface="Hiragino Sans GB"/>
                <a:cs typeface="Hiragino Sans GB"/>
              </a:rPr>
              <a:t>完整本机工作台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05877-7AB0-40E1-970E-A3077F7F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4895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上传视频、保存与编辑项目</a:t>
            </a:r>
          </a:p>
          <a:p xmlns:a="http://schemas.openxmlformats.org/drawingml/2006/main">
            <a:pPr>
              <a:def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人工复核、版本恢复与成片导出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B5C73-618E-44A4-8588-41D9984D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GitHub Pages 托管静态页面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DDE34-4CDE-4538-8BC6-F709C242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42A46"/>
                </a:solidFill>
                <a:latin typeface="Hiragino Sans GB"/>
                <a:ea typeface="Hiragino Sans GB"/>
                <a:cs typeface="Hiragino Sans GB"/>
              </a:rPr>
              <a:t>本机 Python 服务处理用户项目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887BA-82A4-4264-8571-FA725A1E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408B"/>
                </a:solidFill>
                <a:latin typeface="Hiragino Sans GB"/>
                <a:ea typeface="Hiragino Sans GB"/>
                <a:cs typeface="Hiragino Sans GB"/>
              </a:rPr>
              <a:t>https://dingyucanada.github.io/courtlens/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31AB0-81CF-4B12-A38F-633E9FEC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46984"/>
                </a:solidFill>
                <a:latin typeface="Hiragino Sans GB"/>
                <a:ea typeface="Hiragino Sans GB"/>
                <a:cs typeface="Hiragino Sans GB"/>
              </a:rPr>
              <a:t>公开演示不承担 Python 渲染或项目持久保存。用户素材由完整本机工作台处理</a:t>
            </a:r>
          </a:p>
        </p:txBody>
      </p:sp>
    </p:spTree>
    <p:extLst>
      <p:ext uri="{BB962C8B-B14F-4D97-AF65-F5344CB8AC3E}">
        <p14:creationId xmlns:p14="http://schemas.microsoft.com/office/powerpoint/2010/main" val="5256408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C76DA-F807-4DF2-BD6D-E1ACCD16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现场 12 小时的验证顺序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03EE6-1099-4DBF-8221-35E5BEA4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198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8451A-702E-4CFB-873E-2AFE9733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C4C"/>
          </a:solidFill>
          <a:ln xmlns:a="http://schemas.openxmlformats.org/drawingml/2006/main" w="19050">
            <a:solidFill>
              <a:srgbClr val="7292C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1EEAE-EA22-42E2-9D8E-073683C2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0–2 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59F7B-8F59-4014-8016-C03536A3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0383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核对正式素材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确认授权、字段和指标口径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CFEDD-990E-4564-8D7B-E97D2C67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76425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C4C"/>
          </a:solidFill>
          <a:ln xmlns:a="http://schemas.openxmlformats.org/drawingml/2006/main" w="19050">
            <a:solidFill>
              <a:srgbClr val="7292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DB7C5-FF1F-4CF4-9C97-8C29C312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383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2–5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A6463-E060-4133-85F2-09F6F5F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90800"/>
            <a:ext cx="20383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校准视频与事件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检查切镜、回放和时间锚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C0EDE-D23E-4AA1-8658-C5334455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76425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C4C"/>
          </a:solidFill>
          <a:ln xmlns:a="http://schemas.openxmlformats.org/drawingml/2006/main" w="19050">
            <a:solidFill>
              <a:srgbClr val="7292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B713E-3718-4B12-B0F8-D341991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5–9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1EA31-63DC-4C5A-AB1F-A32B096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20383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复核关键回合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逐句核对解释和画面叠加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52432-8953-4E35-8B65-3BF23DF3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76425"/>
            <a:ext cx="2381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C4C"/>
          </a:solidFill>
          <a:ln xmlns:a="http://schemas.openxmlformats.org/drawingml/2006/main" w="19050">
            <a:solidFill>
              <a:srgbClr val="C9082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C0CDF-F0A2-4072-9AA4-2FBB87B4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9–12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63F1B-707A-4DA0-BC7D-908F97F7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90800"/>
            <a:ext cx="20383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输出与排演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6D3E5"/>
                </a:solidFill>
                <a:latin typeface="Hiragino Sans GB"/>
                <a:ea typeface="Hiragino Sans GB"/>
                <a:cs typeface="Hiragino Sans GB"/>
              </a:rPr>
              <a:t>验收成片、复现包和路演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90850" y="30384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48350" y="30384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05850" y="30384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92C7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54B73-4064-45E3-A649-2D5CA33D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rPr>
              <a:t>交付物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8D0CD-D362-49D2-8AAB-203FBB7D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可运行代码    公开体验页    演示成片    数据与方法说明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AF8F1-946B-4583-B3C3-974B7F39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AFC1D8"/>
                </a:solidFill>
                <a:latin typeface="Hiragino Sans GB"/>
                <a:ea typeface="Hiragino Sans GB"/>
                <a:cs typeface="Hiragino Sans GB"/>
              </a:rPr>
              <a:t>时间分配为团队执行预案。正式数据、评分细则和提交格式以主办方发布为准</a:t>
            </a:r>
          </a:p>
        </p:txBody>
      </p:sp>
    </p:spTree>
    <p:extLst>
      <p:ext uri="{BB962C8B-B14F-4D97-AF65-F5344CB8AC3E}">
        <p14:creationId xmlns:p14="http://schemas.microsoft.com/office/powerpoint/2010/main" val="271997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2026-09-22T04:34:10.0050000Z</dcterms:created>
  <dcterms:modified xsi:type="dcterms:W3CDTF">2026-09-22T04:34:10.0050000Z</dcterms:modified>
</coreProperties>
</file>