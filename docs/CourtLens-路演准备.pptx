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8fa6889dd436c" /><Relationship Type="http://schemas.openxmlformats.org/officeDocument/2006/relationships/extended-properties" Target="/docProps/app.xml" Id="Rc3d79a5008504e4b" /><Relationship Type="http://schemas.openxmlformats.org/officeDocument/2006/relationships/officeDocument" Target="/ppt/presentation.xml" Id="R4de8873a1a3c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d1ed1a4034a89"/>
  </p:sldMasterIdLst>
  <p:notesMasterIdLst>
    <p:notesMasterId xmlns:r="http://schemas.openxmlformats.org/officeDocument/2006/relationships" r:id="Rfa71e24a3b08418f"/>
  </p:notesMasterIdLst>
  <p:sldIdLst>
    <p:sldId xmlns:r="http://schemas.openxmlformats.org/officeDocument/2006/relationships" id="256" r:id="Red2dfe91f2bd4e01"/>
    <p:sldId xmlns:r="http://schemas.openxmlformats.org/officeDocument/2006/relationships" id="257" r:id="Rf46702b955094361"/>
    <p:sldId xmlns:r="http://schemas.openxmlformats.org/officeDocument/2006/relationships" id="258" r:id="R906963e454e34bda"/>
    <p:sldId xmlns:r="http://schemas.openxmlformats.org/officeDocument/2006/relationships" id="259" r:id="R24a0330f7c734797"/>
    <p:sldId xmlns:r="http://schemas.openxmlformats.org/officeDocument/2006/relationships" id="260" r:id="R7afdcc01f24b4925"/>
    <p:sldId xmlns:r="http://schemas.openxmlformats.org/officeDocument/2006/relationships" id="261" r:id="R178b84cb288b4c33"/>
    <p:sldId xmlns:r="http://schemas.openxmlformats.org/officeDocument/2006/relationships" id="262" r:id="R698f302df4914c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0ae31b3c1b4c5f" /><Relationship Type="http://schemas.openxmlformats.org/officeDocument/2006/relationships/slideMaster" Target="/ppt/slideMasters/slideMaster1.xml" Id="Rbe3d1ed1a4034a89" /><Relationship Type="http://schemas.openxmlformats.org/officeDocument/2006/relationships/notesMaster" Target="/ppt/notesMasters/notesMaster1.xml" Id="Rfa71e24a3b08418f" /><Relationship Type="http://schemas.openxmlformats.org/officeDocument/2006/relationships/presProps" Target="/ppt/presProps.xml" Id="Ra6ce958a15fd4b8f" /><Relationship Type="http://schemas.openxmlformats.org/officeDocument/2006/relationships/tableStyles" Target="/ppt/tableStyles.xml" Id="R29da4cd37edb4a41" /><Relationship Type="http://schemas.openxmlformats.org/officeDocument/2006/relationships/slide" Target="/ppt/slides/slide1.xml" Id="Red2dfe91f2bd4e01" /><Relationship Type="http://schemas.openxmlformats.org/officeDocument/2006/relationships/slide" Target="/ppt/slides/slide2.xml" Id="Rf46702b955094361" /><Relationship Type="http://schemas.openxmlformats.org/officeDocument/2006/relationships/slide" Target="/ppt/slides/slide3.xml" Id="R906963e454e34bda" /><Relationship Type="http://schemas.openxmlformats.org/officeDocument/2006/relationships/slide" Target="/ppt/slides/slide4.xml" Id="R24a0330f7c734797" /><Relationship Type="http://schemas.openxmlformats.org/officeDocument/2006/relationships/slide" Target="/ppt/slides/slide5.xml" Id="R7afdcc01f24b4925" /><Relationship Type="http://schemas.openxmlformats.org/officeDocument/2006/relationships/slide" Target="/ppt/slides/slide6.xml" Id="R178b84cb288b4c33" /><Relationship Type="http://schemas.openxmlformats.org/officeDocument/2006/relationships/slide" Target="/ppt/slides/slide7.xml" Id="R698f302df491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192dd6c0e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4673c0f79e47b8" /><Relationship Type="http://schemas.openxmlformats.org/officeDocument/2006/relationships/notesMaster" Target="/ppt/notesMasters/notesMaster1.xml" Id="R649ead39f37948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0e70f92564331" /><Relationship Type="http://schemas.openxmlformats.org/officeDocument/2006/relationships/notesMaster" Target="/ppt/notesMasters/notesMaster1.xml" Id="R590a26f622b04e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01693f59f24f8c" /><Relationship Type="http://schemas.openxmlformats.org/officeDocument/2006/relationships/notesMaster" Target="/ppt/notesMasters/notesMaster1.xml" Id="R376ce137908f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61311a0d840c6" /><Relationship Type="http://schemas.openxmlformats.org/officeDocument/2006/relationships/notesMaster" Target="/ppt/notesMasters/notesMaster1.xml" Id="R6a84df00ae63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941a5f8e3e42f0" /><Relationship Type="http://schemas.openxmlformats.org/officeDocument/2006/relationships/notesMaster" Target="/ppt/notesMasters/notesMaster1.xml" Id="R029e0600517944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2609160aa9429c" /><Relationship Type="http://schemas.openxmlformats.org/officeDocument/2006/relationships/notesMaster" Target="/ppt/notesMasters/notesMaster1.xml" Id="R40f2420cd620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60779706bd4d07" /><Relationship Type="http://schemas.openxmlformats.org/officeDocument/2006/relationships/notesMaster" Target="/ppt/notesMasters/notesMaster1.xml" Id="Rcfc336c485bf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产品主张：复盘者可以保存自己的视频项目，修正回合与人工画面标注，再让解释与导出成片对应到明确的证据。本稿是当前本地单用户产品的演示准备，不代表获得奖项、通过生产认证或完成真实 NBA 性能测试。当前内置视频、轨迹和指标均为明确标记的合成演练。正式赛方视频与数据尚待现场接入。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本地：work/courtlens/product/brief.md</a:t>
            </a:r>
          </a:p>
          <a:p xmlns:a="http://schemas.openxmlformats.org/drawingml/2006/main">
            <a:r>
              <a:t>本地：work/courtlens/product/app/README.md</a:t>
            </a:r>
          </a:p>
          <a:p xmlns:a="http://schemas.openxmlformats.org/drawingml/2006/main">
            <a:r>
              <a:t>https://builderx.csdn.net/bcast-code#challenge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该页描述已实现的本机单用户工作流。用户可从本地视频建立手工占位回合，也可导入 CSV 或标准 JSON。内置演练入口会保留 synthetic 来源并强制 draft，不自动声明用户已复核。保存采用乐观版本检查，冲突时保留草稿下载，恢复旧版会创建新版本。视频通过本机服务持久复制与指纹核验。参考 Synergy、Hudl 将分析与视频联系起来的交互，但这里没有做它们与 CourtLens 的性能对比。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本地：work/courtlens/product/API.md</a:t>
            </a:r>
          </a:p>
          <a:p xmlns:a="http://schemas.openxmlformats.org/drawingml/2006/main">
            <a:r>
              <a:t>本地：work/courtlens/product/app/web/projects.js</a:t>
            </a:r>
          </a:p>
          <a:p xmlns:a="http://schemas.openxmlformats.org/drawingml/2006/main">
            <a:r>
              <a:t>本地：work/courtlens/product/app/core/workspace.py</a:t>
            </a:r>
          </a:p>
          <a:p xmlns:a="http://schemas.openxmlformats.org/drawingml/2006/main">
            <a:r>
              <a:t>https://support.synergysports.com/support/solutions/articles/77000576098-shot-chart-viewing-and-tagging-in-the-synergy-editor</a:t>
            </a:r>
          </a:p>
          <a:p xmlns:a="http://schemas.openxmlformats.org/drawingml/2006/main">
            <a:r>
              <a:t>https://www.hudl.com/products/assist/basketball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该页嵌入实际运行的本地网页截图，不是设计概念图。采用完整 1280×720 浏览器视口截图，保持原始风格与图像内容。页面上的数据和视频属于合成功能演练，不能据此声称已完成真实 NBA 比赛验证。人工画面注释记录来源并逐条核对，自动追踪坐标的镜头校准是另一项独立声明。截图本身是位图证据，其外部标题、说明与讲者备注可编辑。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截图原文件：work/courtlens/product/evidence/quality-viewport.png</a:t>
            </a:r>
          </a:p>
          <a:p xmlns:a="http://schemas.openxmlformats.org/drawingml/2006/main">
            <a:r>
              <a:t>内嵌副本：产品工作台截图（已内嵌于本文件）</a:t>
            </a:r>
          </a:p>
          <a:p xmlns:a="http://schemas.openxmlformats.org/drawingml/2006/main">
            <a:r>
              <a:t>本地：work/courtlens/product/app/web/projects.html</a:t>
            </a:r>
          </a:p>
          <a:p xmlns:a="http://schemas.openxmlformats.org/drawingml/2006/main">
            <a:r>
              <a:t>本地：work/courtlens/product/app/web/annotate.html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本地证据 Agent 验证输入、整理来源、按公开编辑规则筛选回合，生成受约束的解释，并记录执行步骤。页面问答不调用外部大模型。单独的云规划器需要明确启用、凭据和素材许可，目前只有模拟提供者协议测试，没有完成真实云模型调用。人工复核不是软件替用户认证数据真实性，source=official 也只是提供者声明。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本地：work/courtlens/product/app/core/engine.py</a:t>
            </a:r>
          </a:p>
          <a:p xmlns:a="http://schemas.openxmlformats.org/drawingml/2006/main">
            <a:r>
              <a:t>本地：work/courtlens/product/app/core/quality.py</a:t>
            </a:r>
          </a:p>
          <a:p xmlns:a="http://schemas.openxmlformats.org/drawingml/2006/main">
            <a:r>
              <a:t>本地：work/courtlens/product/app/README.md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xFG 是单次出手的预期命中概率，不能根据一次结果反推。Gravity 保留来源口径，不能用最近防守距离替代。演练 Leverage 限定为 0–1 回合胜率机会差，不等于实际前后胜率变化或球员累计分。视频播放使用唯一时钟。原始轨迹要求媒体匹配与 camera_segments.calibrated。人工标注使用 origin=manual、author_note 和独立 frame_reviewed，不修改原始追踪校准。已知结果按 result_time 才显示，缺失时刻不伪造结果字幕。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本地：work/courtlens/product/app/docs/方法与指标.md</a:t>
            </a:r>
          </a:p>
          <a:p xmlns:a="http://schemas.openxmlformats.org/drawingml/2006/main">
            <a:r>
              <a:t>本地：work/courtlens/product/app/core/validation.py</a:t>
            </a:r>
          </a:p>
          <a:p xmlns:a="http://schemas.openxmlformats.org/drawingml/2006/main">
            <a:r>
              <a:t>本地：work/courtlens/product/app/core/tracking.py</a:t>
            </a:r>
          </a:p>
          <a:p xmlns:a="http://schemas.openxmlformats.org/drawingml/2006/main">
            <a:r>
              <a:t>https://www.nba.com/news/intro-to-expected-field-goal-percentage</a:t>
            </a:r>
          </a:p>
          <a:p xmlns:a="http://schemas.openxmlformats.org/drawingml/2006/main">
            <a:r>
              <a:t>https://www.nba.com/news/intro-to-gravity-stat-nba-2025</a:t>
            </a:r>
          </a:p>
          <a:p xmlns:a="http://schemas.openxmlformats.org/drawingml/2006/main">
            <a:r>
              <a:t>https://aws.amazon.com/blogs/media/how-the-nba-and-aws-built-an-ai-system-to-measure-what-actually-wins-basketball-games/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后台导出任务冻结 expected_revision 和媒体 SHA-256，不因后续编辑改变当前任务。默认 voice=false。只有 capabilities.tts_available 为 true 时界面开放添加中文配音，当前能力对应 macOS 本地 say，不调用云服务。voice=true 先渲染视频，再按已验证的字幕逐段离线合成中文语音，最后核验音轨、尺寸、时长和语音日志，完成后开放 replay.mp4、replay.vtt、replay.analysis.json 和 replay.voice.json。当前配音版本不混入源音轨。配音工具不可用、字幕过密、合成失败或任务取消均不会静默发布无声中间视频。后端代理报告完成真实 macOS say 与音轨验证，产品最终统计以主代理最终验收记录为准。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本地：work/courtlens/product/API.md</a:t>
            </a:r>
          </a:p>
          <a:p xmlns:a="http://schemas.openxmlformats.org/drawingml/2006/main">
            <a:r>
              <a:t>本地：work/courtlens/product/app/core/jobs.py</a:t>
            </a:r>
          </a:p>
          <a:p xmlns:a="http://schemas.openxmlformats.org/drawingml/2006/main">
            <a:r>
              <a:t>本地：work/courtlens/product/app/web/projects.js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演示从项目列表进入，查看实际片段、手动复核，再创建一个绑定版本的导出任务。不要给出演示素材不支持的准确率、延迟或用户价值统计。正式比赛还需赛方视频和数据字典、素材授权、真实时钟对齐与逐句核对。本地产品不等于多人公网服务，也未获得生产认证或获奖证明。十二小时现场工程预案仍可沿用：前两小时核对正式包与授权，随后完成时间和镜头对齐，挑选有差异的回合，逐句检查并按现场规范交付。该安排为自定预案，不是已确认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本地：work/courtlens/product/brief.md</a:t>
            </a:r>
          </a:p>
          <a:p xmlns:a="http://schemas.openxmlformats.org/drawingml/2006/main">
            <a:r>
              <a:t>本地：work/courtlens/product/app/README.md</a:t>
            </a:r>
          </a:p>
          <a:p xmlns:a="http://schemas.openxmlformats.org/drawingml/2006/main">
            <a:r>
              <a:t>本地：work/courtlens/product/app/docs/专业产品研究.md</a:t>
            </a:r>
          </a:p>
          <a:p xmlns:a="http://schemas.openxmlformats.org/drawingml/2006/main">
            <a:r>
              <a:t>https://builderx.csdn.net/bcast-code#challenge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9b4fe838d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83c27ebbf24ab7" /><Relationship Type="http://schemas.openxmlformats.org/officeDocument/2006/relationships/slideLayout" Target="/ppt/slideLayouts/slideLayout1.xml" Id="R9113fd9248d3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3fd9248d3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7995172e3415a" /><Relationship Type="http://schemas.openxmlformats.org/officeDocument/2006/relationships/notesSlide" Target="/ppt/notesSlides/notesSlide1.xml" Id="R35025146b3bc46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f139133554ac3" /><Relationship Type="http://schemas.openxmlformats.org/officeDocument/2006/relationships/notesSlide" Target="/ppt/notesSlides/notesSlide2.xml" Id="R62a2de3a8996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9fa9350b44a3b" /><Relationship Type="http://schemas.openxmlformats.org/officeDocument/2006/relationships/image" Target="/ppt/media/image.jpeg" Id="R32f1cd8fb06145c8" /><Relationship Type="http://schemas.openxmlformats.org/officeDocument/2006/relationships/notesSlide" Target="/ppt/notesSlides/notesSlide3.xml" Id="R96239a753ddd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a534bfa44d06" /><Relationship Type="http://schemas.openxmlformats.org/officeDocument/2006/relationships/notesSlide" Target="/ppt/notesSlides/notesSlide4.xml" Id="Rf6c2dff8dd6147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e1b31550441b1" /><Relationship Type="http://schemas.openxmlformats.org/officeDocument/2006/relationships/notesSlide" Target="/ppt/notesSlides/notesSlide5.xml" Id="Rb330b70f6213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e4deabea6494e" /><Relationship Type="http://schemas.openxmlformats.org/officeDocument/2006/relationships/notesSlide" Target="/ppt/notesSlides/notesSlide6.xml" Id="R7d76aecf40e1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653e30e6749cb" /><Relationship Type="http://schemas.openxmlformats.org/officeDocument/2006/relationships/notesSlide" Target="/ppt/notesSlides/notesSlide7.xml" Id="R2e8687ebe5e042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782B-6E51-4A49-8F05-2E05BCB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D14CD-5594-47D8-AB73-8D3F40B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CourtLens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A719A-93EE-42DA-8400-C098F3E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716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观赛透镜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EBC16-2CF4-4DC5-854B-CD3EA13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66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让每句解读</a:t>
            </a:r>
          </a:p>
          <a:p xmlns:a="http://schemas.openxmlformats.org/drawingml/2006/main">
            <a:pPr>
              <a:def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回到视频证据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739B-FF7C-405D-85DB-E6DC60C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本机篮球复盘工作台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F0B61-BB8B-440E-B746-C3E8467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产品演示使用合成素材，正式赛方视频与数据待现场接入</a:t>
            </a:r>
          </a:p>
        </p:txBody>
      </p:sp>
    </p:spTree>
    <p:extLst>
      <p:ext uri="{BB962C8B-B14F-4D97-AF65-F5344CB8AC3E}">
        <p14:creationId xmlns:p14="http://schemas.microsoft.com/office/powerpoint/2010/main" val="886331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E863C-491C-4325-B8A4-C98602C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7BA15-CAA2-450D-AD71-BD518F1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一次复盘，保留完整来路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B005E-8FBE-48FA-B067-657F230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给教练、分析师与内容创作者的本地项目工作区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896600" cy="3476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8324850"/>
              </a:tblGrid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工作环节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当前产品能力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开始使用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视频、CSV 或标准数据导入，也可先体验合成演练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持续编辑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保存项目与视频，保留版本并恢复历史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人工复核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修正回合时刻、指标来源与画面标注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可追溯交付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导出固定项目版本，绑定原片指纹与证据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2F01B-6E96-4993-9942-DF7F4E10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页面修改后重新复核，待复核草稿不能导出成片</a:t>
            </a:r>
          </a:p>
        </p:txBody>
      </p:sp>
    </p:spTree>
    <p:extLst>
      <p:ext uri="{BB962C8B-B14F-4D97-AF65-F5344CB8AC3E}">
        <p14:creationId xmlns:p14="http://schemas.microsoft.com/office/powerpoint/2010/main" val="226119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187B2-CEBD-465B-A8F1-710D1CD6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8B911-0A65-44FA-9413-ABF7DAA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真实工作区中的人工复核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1cd8fb06145c8"/>
          <a:stretch xmlns:a="http://schemas.openxmlformats.org/drawingml/2006/main"/>
        </p:blipFill>
        <p:spPr>
          <a:xfrm xmlns:a="http://schemas.openxmlformats.org/drawingml/2006/main">
            <a:off x="1676400" y="1362075"/>
            <a:ext cx="8839200" cy="4972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2C7C3-11FB-468C-A686-000918A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浏览器实截，当前演示素材为合成数据</a:t>
            </a:r>
          </a:p>
        </p:txBody>
      </p:sp>
    </p:spTree>
    <p:extLst>
      <p:ext uri="{BB962C8B-B14F-4D97-AF65-F5344CB8AC3E}">
        <p14:creationId xmlns:p14="http://schemas.microsoft.com/office/powerpoint/2010/main" val="1938010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2EE26-03BF-4688-B051-08A46372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7A1E9-7FB0-43B2-97C1-2EDFE2CE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证据约束的本机工作流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13476-953B-43D3-8D0A-BA402935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数据缺失、时间失配与未完成复核都有明确状态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8D1C-F3AC-43F5-AA9E-81A8F28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E32B5-5FA5-498B-91FB-D709EA0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导入与对齐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82D8B-A2EF-4C99-B919-0ADE0F3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核对视频与数据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未知指标保留为空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1E899-1913-4921-A9A9-69F9D4E5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C8926-9836-42A2-B50F-12A2C8F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人工复核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8DD8E-D42B-4DE6-92AB-CEB83C82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核对回合与来源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逐条确认画面标注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4292A-DAB3-4C26-8525-C090DEC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4E4C7-AFCA-4F0F-AB10-C669178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证据解读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6E880-F200-47FC-B5AC-9AE1B85B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按已有证据解释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点击回到视频时刻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11B23-1C0B-485D-8347-63A4CBD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66995-EB25-4996-98C8-89ED4CA6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版本化导出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92D6F-7D51-4C57-B1F3-0B45333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冻结版本与原片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核验后开放下载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52750" y="36909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4B30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15000" y="36909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4B3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77250" y="36909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4B30"/>
            </a:solidFill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72AC9-636E-4A72-852B-5411E2E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网页流程在本机执行，问答只使用项目中已有的证据</a:t>
            </a:r>
          </a:p>
        </p:txBody>
      </p:sp>
    </p:spTree>
    <p:extLst>
      <p:ext uri="{BB962C8B-B14F-4D97-AF65-F5344CB8AC3E}">
        <p14:creationId xmlns:p14="http://schemas.microsoft.com/office/powerpoint/2010/main" val="777724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82A6-F6BF-4A9A-BBED-B49D711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F258B-2FB5-40A5-BA74-BDD60EF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解释边界写进数据与画面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35F8C-1B71-47B3-83F3-D3831E5D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xFG、Gravity、Leverage 读取有来源的输入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353300"/>
              </a:tblGrid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需要核对的内容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产品处理方式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指标定义与缺失值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保留原始定义和单位，未知值留空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自动追踪与镜头校准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视频匹配且镜头校准后才显示跟踪图层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人工箭头、区域与文字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记录来源并逐条复核，不替追踪坐标完成校准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解说判断与比赛结果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逐句关联证据，证据不足时明确拒答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30F38-7BF5-4B36-B30C-3EA1865F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出手条件与结果分时显示，避免提前揭示命中结果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21338-2716-4154-8796-B976B10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演练 Leverage 为 0–1 回合胜率机会差，正式接入以赛方字典为准</a:t>
            </a:r>
          </a:p>
        </p:txBody>
      </p:sp>
    </p:spTree>
    <p:extLst>
      <p:ext uri="{BB962C8B-B14F-4D97-AF65-F5344CB8AC3E}">
        <p14:creationId xmlns:p14="http://schemas.microsoft.com/office/powerpoint/2010/main" val="498849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6F74B-CD8D-415B-B916-29AEB5A5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6E8E7-9E74-4351-B54C-D75F624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成片属于一个明确版本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BA7E-E38D-488F-BEE8-8FBEE9E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字幕版成片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C703D-B616-4DC2-AFF0-D08C975A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720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默认导出 MP4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同步字幕与分析文件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保留项目版本和原片指纹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D8971-B979-419D-A1C1-6008206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90725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可选离线中文配音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D999F-FC0B-4954-B91F-3F73438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50673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朗读已验证的字幕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附配音过程与证据日志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任务中可查看实际进度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2BBB7-F13C-4903-8CB3-4EE69B3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完整核验后才开放下载，失败与取消不开放半成品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51AF6-1705-40EB-BA31-6344D4F4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本机具备 macOS 配音工具时可用，配音版不保留原视频音轨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96B4C-62AC-4D11-9FDF-BD579BE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配音失败会报告失败，不静默降级为无声成片</a:t>
            </a:r>
          </a:p>
        </p:txBody>
      </p:sp>
    </p:spTree>
    <p:extLst>
      <p:ext uri="{BB962C8B-B14F-4D97-AF65-F5344CB8AC3E}">
        <p14:creationId xmlns:p14="http://schemas.microsoft.com/office/powerpoint/2010/main" val="1832897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BF396-4E10-4AD4-AB79-042BBC4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8AF8F-2484-4E22-A7FE-ABD4B390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本机流程已具备，正式比赛待现场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D9F47-6A21-4DD5-B065-9ED57FFB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当前可演示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47FA6-0A52-4D47-9BEB-23DA3E80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197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持久项目与版本恢复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回合复核和人工画面标注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证据回看与字幕成片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具备本机能力时添加中文配音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D5322-A82B-4714-B5FA-37CD3D7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71675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现场仍需验证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E4B28-7111-4BC7-8347-EE78934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43200"/>
            <a:ext cx="50673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赛方视频与完整数据字典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真实比赛的时钟和镜头对齐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指标来源与每句解说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素材授权及正式提交规范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86044-3AC3-41E8-919E-E57C2268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让每句解读回到视频证据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162E1-F1B0-4221-BBD0-1D45196F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本地单用户产品。真实云调用与正式 NBA 数据验收尚未完成。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1634528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2026-09-21T21:58:33.2670000Z</dcterms:created>
  <dcterms:modified xsi:type="dcterms:W3CDTF">2026-09-21T21:58:33.2670000Z</dcterms:modified>
</coreProperties>
</file>