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835d867b984dcc" /><Relationship Type="http://schemas.openxmlformats.org/officeDocument/2006/relationships/extended-properties" Target="/docProps/app.xml" Id="R8450007e4d9e43cb" /><Relationship Type="http://schemas.openxmlformats.org/officeDocument/2006/relationships/officeDocument" Target="/ppt/presentation.xml" Id="Rf409d9c59d5a48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6f0f3920044940"/>
  </p:sldMasterIdLst>
  <p:notesMasterIdLst>
    <p:notesMasterId xmlns:r="http://schemas.openxmlformats.org/officeDocument/2006/relationships" r:id="R7c0adc40d97441ef"/>
  </p:notesMasterIdLst>
  <p:sldIdLst>
    <p:sldId xmlns:r="http://schemas.openxmlformats.org/officeDocument/2006/relationships" id="256" r:id="R25233aa837b1410a"/>
    <p:sldId xmlns:r="http://schemas.openxmlformats.org/officeDocument/2006/relationships" id="257" r:id="R04a8a7df77474122"/>
    <p:sldId xmlns:r="http://schemas.openxmlformats.org/officeDocument/2006/relationships" id="258" r:id="R21c87dfb8666404a"/>
    <p:sldId xmlns:r="http://schemas.openxmlformats.org/officeDocument/2006/relationships" id="259" r:id="R79baf7d0c5764bd8"/>
    <p:sldId xmlns:r="http://schemas.openxmlformats.org/officeDocument/2006/relationships" id="260" r:id="Rf90229215d784f30"/>
    <p:sldId xmlns:r="http://schemas.openxmlformats.org/officeDocument/2006/relationships" id="261" r:id="R20b6a191ca924fea"/>
    <p:sldId xmlns:r="http://schemas.openxmlformats.org/officeDocument/2006/relationships" id="262" r:id="Rff104720ff7e487e"/>
    <p:sldId xmlns:r="http://schemas.openxmlformats.org/officeDocument/2006/relationships" id="263" r:id="R91f200461eaf443f"/>
    <p:sldId xmlns:r="http://schemas.openxmlformats.org/officeDocument/2006/relationships" id="264" r:id="R2690c9bbaf49418b"/>
    <p:sldId xmlns:r="http://schemas.openxmlformats.org/officeDocument/2006/relationships" id="265" r:id="R05942f6a61954d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97125957e2484e" /><Relationship Type="http://schemas.openxmlformats.org/officeDocument/2006/relationships/slideMaster" Target="/ppt/slideMasters/slideMaster1.xml" Id="Re66f0f3920044940" /><Relationship Type="http://schemas.openxmlformats.org/officeDocument/2006/relationships/notesMaster" Target="/ppt/notesMasters/notesMaster1.xml" Id="R7c0adc40d97441ef" /><Relationship Type="http://schemas.openxmlformats.org/officeDocument/2006/relationships/presProps" Target="/ppt/presProps.xml" Id="R134bb0593df8448e" /><Relationship Type="http://schemas.openxmlformats.org/officeDocument/2006/relationships/tableStyles" Target="/ppt/tableStyles.xml" Id="R83db323e93cc4686" /><Relationship Type="http://schemas.openxmlformats.org/officeDocument/2006/relationships/slide" Target="/ppt/slides/slide1.xml" Id="R25233aa837b1410a" /><Relationship Type="http://schemas.openxmlformats.org/officeDocument/2006/relationships/slide" Target="/ppt/slides/slide2.xml" Id="R04a8a7df77474122" /><Relationship Type="http://schemas.openxmlformats.org/officeDocument/2006/relationships/slide" Target="/ppt/slides/slide3.xml" Id="R21c87dfb8666404a" /><Relationship Type="http://schemas.openxmlformats.org/officeDocument/2006/relationships/slide" Target="/ppt/slides/slide4.xml" Id="R79baf7d0c5764bd8" /><Relationship Type="http://schemas.openxmlformats.org/officeDocument/2006/relationships/slide" Target="/ppt/slides/slide5.xml" Id="Rf90229215d784f30" /><Relationship Type="http://schemas.openxmlformats.org/officeDocument/2006/relationships/slide" Target="/ppt/slides/slide6.xml" Id="R20b6a191ca924fea" /><Relationship Type="http://schemas.openxmlformats.org/officeDocument/2006/relationships/slide" Target="/ppt/slides/slide7.xml" Id="Rff104720ff7e487e" /><Relationship Type="http://schemas.openxmlformats.org/officeDocument/2006/relationships/slide" Target="/ppt/slides/slide8.xml" Id="R91f200461eaf443f" /><Relationship Type="http://schemas.openxmlformats.org/officeDocument/2006/relationships/slide" Target="/ppt/slides/slide9.xml" Id="R2690c9bbaf49418b" /><Relationship Type="http://schemas.openxmlformats.org/officeDocument/2006/relationships/slide" Target="/ppt/slides/slide10.xml" Id="R05942f6a61954d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b325dff54b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ebc81b73194e58" /><Relationship Type="http://schemas.openxmlformats.org/officeDocument/2006/relationships/notesMaster" Target="/ppt/notesMasters/notesMaster1.xml" Id="R30d88c41eaf842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40391284864f7a" /><Relationship Type="http://schemas.openxmlformats.org/officeDocument/2006/relationships/notesMaster" Target="/ppt/notesMasters/notesMaster1.xml" Id="Rd98f34b23385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39b3492a1940a2" /><Relationship Type="http://schemas.openxmlformats.org/officeDocument/2006/relationships/notesMaster" Target="/ppt/notesMasters/notesMaster1.xml" Id="Rd02195bbd92d44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e60da17ce14e97" /><Relationship Type="http://schemas.openxmlformats.org/officeDocument/2006/relationships/notesMaster" Target="/ppt/notesMasters/notesMaster1.xml" Id="R91cefb4362a74a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a853bc8d444b7c" /><Relationship Type="http://schemas.openxmlformats.org/officeDocument/2006/relationships/notesMaster" Target="/ppt/notesMasters/notesMaster1.xml" Id="R4ef2c69f916149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ad3d40ecfd4a0e" /><Relationship Type="http://schemas.openxmlformats.org/officeDocument/2006/relationships/notesMaster" Target="/ppt/notesMasters/notesMaster1.xml" Id="R7ad8a00c073749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252f47ad99486e" /><Relationship Type="http://schemas.openxmlformats.org/officeDocument/2006/relationships/notesMaster" Target="/ppt/notesMasters/notesMaster1.xml" Id="Reb81535301f6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3db2476d8c4ade" /><Relationship Type="http://schemas.openxmlformats.org/officeDocument/2006/relationships/notesMaster" Target="/ppt/notesMasters/notesMaster1.xml" Id="Rcde1cde5153646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b16399acb54e36" /><Relationship Type="http://schemas.openxmlformats.org/officeDocument/2006/relationships/notesMaster" Target="/ppt/notesMasters/notesMaster1.xml" Id="Racdf34d34b0048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e66fbb71c74097" /><Relationship Type="http://schemas.openxmlformats.org/officeDocument/2006/relationships/notesMaster" Target="/ppt/notesMasters/notesMaster1.xml" Id="R5d3daf827a074c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新增10页材料说明4.1的本地产品能力与AWS迁移准备，不能替代正式决赛提交物。画面为从现有H.264源文件实际解码的8秒帧，素材为自行生成的合成演练，球员标识不能当作真实NBA身份。核心产品问题是解释一次篮球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/Users/ding/Documents/Codex/2026-09-22/wo-x/work/courtlens/publish-repo/docs/local-4.1-assets/frame0.png</a:t>
            </a:r>
          </a:p>
          <a:p xmlns:a="http://schemas.openxmlformats.org/drawingml/2006/main">
            <a:r>
              <a:t>data/demo.json</a:t>
            </a:r>
          </a:p>
          <a:p xmlns:a="http://schemas.openxmlformats.org/drawingml/2006/main">
            <a:r>
              <a:t>video-evidence/packet.json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浏览器录屏检查了H.264解码、原片/增强模式保持9秒、指标可用时间、字幕与源证据、390px移动端布局。显示单次出手概率时按原始定义解释，提前不宣布结果。图片保留原始PNG内容，PowerPoint仅应用原生裁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/Users/ding/Documents/Codex/2026-09-22/wo-x/work/courtlens/publish-repo/docs/local-4.1-assets/watch.png</a:t>
            </a:r>
          </a:p>
          <a:p xmlns:a="http://schemas.openxmlformats.org/drawingml/2006/main">
            <a:r>
              <a:t>/Users/ding/Documents/Codex/2026-09-22/wo-x/work/courtlens/publish-repo/docs/local-4.1-assets/mobile.png</a:t>
            </a:r>
          </a:p>
          <a:p xmlns:a="http://schemas.openxmlformats.org/drawingml/2006/main">
            <a:r>
              <a:t>browser/results.json</a:t>
            </a:r>
          </a:p>
          <a:p xmlns:a="http://schemas.openxmlformats.org/drawingml/2006/main">
            <a:r>
              <a:t>pro/app.mjs</a:t>
            </a:r>
          </a:p>
          <a:p xmlns:a="http://schemas.openxmlformats.org/drawingml/2006/main">
            <a:r>
              <a:t>pro/playback.mjs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导演界面包含片单入出点、逐句源时间与证据、人工编辑、画面标注和发布前复核。浏览器实际检查修改后旧成片状态及审阅失效；截图显示历史成片需要重新导出的状态。保留可回退成片，但不将旧成片冒称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/Users/ding/Documents/Codex/2026-09-22/wo-x/work/courtlens/publish-repo/docs/local-4.1-assets/director.png</a:t>
            </a:r>
          </a:p>
          <a:p xmlns:a="http://schemas.openxmlformats.org/drawingml/2006/main">
            <a:r>
              <a:t>browser/results.json</a:t>
            </a:r>
          </a:p>
          <a:p xmlns:a="http://schemas.openxmlformats.org/drawingml/2006/main">
            <a:r>
              <a:t>pro/app.mjs</a:t>
            </a:r>
          </a:p>
          <a:p xmlns:a="http://schemas.openxmlformats.org/drawingml/2006/main">
            <a:r>
              <a:t>pro/story-plan.mjs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种粒度来自本地metrics-v2导入契约，不冒称赛方已提供正式字典。原值、单位、来源、字典版本、身份、观察/可用/有效时间完整保留。防守距离不能当作Gravity，未知Leverage不能按便利范围归一化。球员/赛季汇总不能解释瞬时牵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/Users/ding/Documents/Codex/2026-09-22/wo-x/work/courtlens/publish-repo/docs/Arena-metrics-v2.md</a:t>
            </a:r>
          </a:p>
          <a:p xmlns:a="http://schemas.openxmlformats.org/drawingml/2006/main">
            <a:r>
              <a:t>pro/metrics-v2.mjs</a:t>
            </a:r>
          </a:p>
          <a:p xmlns:a="http://schemas.openxmlformats.org/drawingml/2006/main">
            <a:r>
              <a:t>pro/analytics.mjs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实际读取data/demo.json，经过rehearsalProject与analyzePossession，不手抄或伪造数字。概率为输入单次出手记录，结果来自独立事件字段，两者不是同一个量。原生图表与右侧原生表可编辑；图表有从完整字面值建立的工作簿快照。数据为synthetic/schematic，不提供真实NBA准确率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data/demo.json</a:t>
            </a:r>
          </a:p>
          <a:p xmlns:a="http://schemas.openxmlformats.org/drawingml/2006/main">
            <a:r>
              <a:t>pro/model.mjs</a:t>
            </a:r>
          </a:p>
          <a:p xmlns:a="http://schemas.openxmlformats.org/drawingml/2006/main">
            <a:r>
              <a:t>pro/analytics.mjs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保留6位小数以兼容Excel原生图表，未四舍五入的计算结果保存在statistics.json。使用tests/fixtures/dynamic-camera.json，球员A固定在球场(20,20)，调用projectAt实际生成0.25/1.75/2/2.25秒归一化画面x/y，2秒换镜头。它是独立合成fixture，不是右侧源片轨迹。右上图从演练源视频请求10.5秒，实际PTS10.48秒，属于真实解码帧观察。右下为真实动态编辑器截图，浏览器实际4点保存保留原pan-zoom镜头编号与6个关键帧；展示人工工具，不是自动模型能力。动态方案按镜头人工关键帧插值，独立非拟合检查点验证，遮挡、切镜、超阈值或外推时关闭错误位置/路径；不自动识别球员或切镜。平面投影不恢复空中球3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/Users/ding/Documents/Codex/2026-09-22/wo-x/work/courtlens/publish-repo/docs/Arena-dynamic-camera.md</a:t>
            </a:r>
          </a:p>
          <a:p xmlns:a="http://schemas.openxmlformats.org/drawingml/2006/main">
            <a:r>
              <a:t>tests/fixtures/dynamic-camera.json</a:t>
            </a:r>
          </a:p>
          <a:p xmlns:a="http://schemas.openxmlformats.org/drawingml/2006/main">
            <a:r>
              <a:t>pro/calibration.mjs</a:t>
            </a:r>
          </a:p>
          <a:p xmlns:a="http://schemas.openxmlformats.org/drawingml/2006/main">
            <a:r>
              <a:t>/Users/ding/Documents/Codex/2026-09-22/wo-x/work/courtlens/publish-repo/docs/local-4.1-assets/frame2.png</a:t>
            </a:r>
          </a:p>
          <a:p xmlns:a="http://schemas.openxmlformats.org/drawingml/2006/main">
            <a:r>
              <a:t>/Users/ding/Documents/Codex/2026-09-22/wo-x/work/courtlens/publish-repo/docs/local-4.1-assets/dynamic.png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StoryPlan保存原项目/证据/原文快照、inputHash、原始proposal、提供者/模型/提示词及参数、人工change history、review与contentHash/planHash。默认model=none，execution=deterministic-local。外部提议execution=imported-proposal，不代表应用已运行真实模型。生成与渲染身份分开；渲染绑定最终已审内容及实际源片、字体、代码和资产哈希。releaseIdentity再绑定具体planHash，以保留审阅和来源修订。结构校验不能认证篮球因果或所有自然语言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pro/story-plan.mjs</a:t>
            </a:r>
          </a:p>
          <a:p xmlns:a="http://schemas.openxmlformats.org/drawingml/2006/main">
            <a:r>
              <a:t>tools/export_story_plan.mjs</a:t>
            </a:r>
          </a:p>
          <a:p xmlns:a="http://schemas.openxmlformats.org/drawingml/2006/main">
            <a:r>
              <a:t>docs/Arena-story-plan.md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片图来自实际Canvas+FFmpeg原生MP4的9秒解码帧。实测文件759823bytes，实际12秒，300帧，1280×720，无音轨，SHA-256=f2d2bbff766554eb91ea92a6b052333517f2f128f88401d7ab4b9eeb39cd85b8。浏览器最终通过15项。Node通过504=367新版+137历史套件，skip=0；Python 198tests=197pass+1skip，跳过项不算通过。按配置日志来源记录。便携Canvas+FFmpeg路径已在当前macOS实际渲染测试，代码不依赖macOS语音服务。没有Linux实机结果，不声称Linux已验收。自动测试、合成样本不能推导真实NBA数据或视频模型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/Users/ding/Documents/Codex/2026-09-22/wo-x/work/courtlens/publish-repo/docs/local-4.1-assets/film.png</a:t>
            </a:r>
          </a:p>
          <a:p xmlns:a="http://schemas.openxmlformats.org/drawingml/2006/main">
            <a:r>
              <a:t>/Users/ding/Documents/Codex/2026-09-22/wo-x/work/courtlens/publish-repo/docs/local-4.1-assets/native-manifest.json</a:t>
            </a:r>
          </a:p>
          <a:p xmlns:a="http://schemas.openxmlformats.org/drawingml/2006/main">
            <a:r>
              <a:t>browser/results.json</a:t>
            </a:r>
          </a:p>
          <a:p xmlns:a="http://schemas.openxmlformats.org/drawingml/2006/main">
            <a:r>
              <a:t>/private/tmp/courtlens-node-p1-final.log; /private/tmp/courtlens-legacy-js-hydrated.log; /private/tmp/courtlens-python-final.log</a:t>
            </a:r>
          </a:p>
          <a:p xmlns:a="http://schemas.openxmlformats.org/drawingml/2006/main">
            <a:r>
              <a:t>tests/test-pro-story-release.mjs</a:t>
            </a:r>
          </a:p>
          <a:p xmlns:a="http://schemas.openxmlformats.org/drawingml/2006/main">
            <a:r>
              <a:t>tests/test-pro-camera-view.mjs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该架构来自本地AWS迁移方案，是目标设计而非已部署资源。Agent服务优先技术候选AgentCore Runtime，但赛方Portal未确认服务、账号、allowedRegion、模型ID与视觉/工具能力。S3/CloudFront/API/任务编排和ECS只描述计划职责，不宣传真实云执行。当前没有正式数据、赛事App绑定或平台提交回执。仅本地通过不能抵消正式云硬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docs/培训后AWS架构与迁移方案.md</a:t>
            </a:r>
          </a:p>
          <a:p xmlns:a="http://schemas.openxmlformats.org/drawingml/2006/main">
            <a:r>
              <a:t>docs/培训后开发任务与验收.md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+50/T+70/T+90来自团队现场执行手册：没有可信计划时收缩故事，配音失败切字幕，90分钟目标是已独立检查的CloudFront可评考试版本，剩余30分钟必要修订和提交核对。T+120为120分钟结束前完成实际回执目标。所有时间都是内部目标，不是已完成陌生片演练成绩。不能用训练片、本机备用或历史成片抵消AWS Agent/CDK/CloudFront、Portal私有库绑定和正式素材身份等硬项。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docs/现场执行手册.md</a:t>
            </a:r>
          </a:p>
          <a:p xmlns:a="http://schemas.openxmlformats.org/drawingml/2006/main">
            <a:r>
              <a:t>docs/培训后开发任务与验收.md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d75a0b13642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001e3a2e2949e8" /><Relationship Type="http://schemas.openxmlformats.org/officeDocument/2006/relationships/slideLayout" Target="/ppt/slideLayouts/slideLayout1.xml" Id="R0849740dc09a45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49740dc09a45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752e3ce494f5f" /><Relationship Type="http://schemas.openxmlformats.org/officeDocument/2006/relationships/image" Target="/ppt/media/image.png" Id="R158a5f3bfb3542cf" /><Relationship Type="http://schemas.openxmlformats.org/officeDocument/2006/relationships/notesSlide" Target="/ppt/notesSlides/notesSlide1.xml" Id="Rffa02ccef0604b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7406963c644e2" /><Relationship Type="http://schemas.openxmlformats.org/officeDocument/2006/relationships/image" Target="/ppt/media/image2.png" Id="Rad8d1f34f0034751" /><Relationship Type="http://schemas.openxmlformats.org/officeDocument/2006/relationships/image" Target="/ppt/media/image3.png" Id="R186280bb363f40d1" /><Relationship Type="http://schemas.openxmlformats.org/officeDocument/2006/relationships/notesSlide" Target="/ppt/notesSlides/notesSlide2.xml" Id="Rf442bd47339248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6c3c3351348d7" /><Relationship Type="http://schemas.openxmlformats.org/officeDocument/2006/relationships/image" Target="/ppt/media/image4.png" Id="Rc75b4302912543a5" /><Relationship Type="http://schemas.openxmlformats.org/officeDocument/2006/relationships/notesSlide" Target="/ppt/notesSlides/notesSlide3.xml" Id="R0ed9476738ac4d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25b1622cf477a" /><Relationship Type="http://schemas.openxmlformats.org/officeDocument/2006/relationships/notesSlide" Target="/ppt/notesSlides/notesSlide4.xml" Id="R9474116356ce4f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4be76cbdd4655" /><Relationship Type="http://schemas.openxmlformats.org/officeDocument/2006/relationships/chart" Target="/ppt/slides/charts/chart1.xml" Id="R1fb47560b7cb4d67" /><Relationship Type="http://schemas.openxmlformats.org/officeDocument/2006/relationships/notesSlide" Target="/ppt/notesSlides/notesSlide5.xml" Id="Ra7f91e8962d942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c3b630b064372" /><Relationship Type="http://schemas.openxmlformats.org/officeDocument/2006/relationships/chart" Target="/ppt/slides/charts/chart2.xml" Id="Rd2d28329bb9d447a" /><Relationship Type="http://schemas.openxmlformats.org/officeDocument/2006/relationships/image" Target="/ppt/media/image5.png" Id="R6713bfb168d449fe" /><Relationship Type="http://schemas.openxmlformats.org/officeDocument/2006/relationships/image" Target="/ppt/media/image6.png" Id="R6cbea33d3caf41b0" /><Relationship Type="http://schemas.openxmlformats.org/officeDocument/2006/relationships/notesSlide" Target="/ppt/notesSlides/notesSlide6.xml" Id="R7c1422c80cff4d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29079979f47b6" /><Relationship Type="http://schemas.openxmlformats.org/officeDocument/2006/relationships/notesSlide" Target="/ppt/notesSlides/notesSlide7.xml" Id="Rcec0f62cf2474a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e6081156244f4" /><Relationship Type="http://schemas.openxmlformats.org/officeDocument/2006/relationships/image" Target="/ppt/media/image7.png" Id="R6dbf592d5fe24493" /><Relationship Type="http://schemas.openxmlformats.org/officeDocument/2006/relationships/chart" Target="/ppt/slides/charts/chart3.xml" Id="R9777733befc04073" /><Relationship Type="http://schemas.openxmlformats.org/officeDocument/2006/relationships/notesSlide" Target="/ppt/notesSlides/notesSlide8.xml" Id="Rca4a77df234b47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aaa1a0e184936" /><Relationship Type="http://schemas.openxmlformats.org/officeDocument/2006/relationships/notesSlide" Target="/ppt/notesSlides/notesSlide9.xml" Id="Rbead7c3a651f41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caa8b8c1d4d57" /><Relationship Type="http://schemas.openxmlformats.org/officeDocument/2006/relationships/notesSlide" Target="/ppt/notesSlides/notesSlide10.xml" Id="R2ae741aae7a9445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输入 xFG 概率</c:v>
          </c:tx>
          <c:spPr>
            <a:solidFill xmlns:a="http://schemas.openxmlformats.org/drawingml/2006/main">
              <a:srgbClr val="17408B"/>
            </a:solidFill>
          </c:spPr>
          <c:cat>
            <c:strRef>
              <c:f>'Chart Data'!$A$2:$A$4</c:f>
              <c:strCache>
                <c:ptCount val="3"/>
                <c:pt idx="0">
                  <c:v>p01</c:v>
                </c:pt>
                <c:pt idx="1">
                  <c:v>p02</c:v>
                </c:pt>
                <c:pt idx="2">
                  <c:v>p03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0.38</c:v>
                </c:pt>
                <c:pt idx="1">
                  <c:v>0.71</c:v>
                </c:pt>
                <c:pt idx="2">
                  <c:v>0.62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4243D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画面 x</c:v>
          </c:tx>
          <c:spPr>
            <a:solidFill xmlns:a="http://schemas.openxmlformats.org/drawingml/2006/main">
              <a:srgbClr val="17408B"/>
            </a:solidFill>
          </c:spPr>
          <c:marker>
            <c:symbol val="circle"/>
            <c:size val="9"/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0.25</c:v>
                </c:pt>
                <c:pt idx="1">
                  <c:v>1.75</c:v>
                </c:pt>
                <c:pt idx="2">
                  <c:v>2</c:v>
                </c:pt>
                <c:pt idx="3">
                  <c:v>2.25</c:v>
                </c:pt>
              </c:numCache>
            </c:numRef>
          </c:xVal>
          <c:yVal>
            <c:numRef>
              <c:f>'Chart Data'!$B$2:$B$5</c:f>
              <c:numCache>
                <c:formatCode>0.00</c:formatCode>
                <c:ptCount val="4"/>
                <c:pt idx="0">
                  <c:v>0.2825</c:v>
                </c:pt>
                <c:pt idx="1">
                  <c:v>0.4175</c:v>
                </c:pt>
                <c:pt idx="2">
                  <c:v>0.34</c:v>
                </c:pt>
                <c:pt idx="3">
                  <c:v>0.3475</c:v>
                </c:pt>
              </c:numCache>
            </c:numRef>
          </c:yVal>
        </c:ser>
        <c:ser>
          <c:idx val="1"/>
          <c:order val="1"/>
          <c:tx>
            <c:v>画面 y</c:v>
          </c:tx>
          <c:spPr>
            <a:solidFill xmlns:a="http://schemas.openxmlformats.org/drawingml/2006/main">
              <a:srgbClr val="C9082A"/>
            </a:solidFill>
          </c:spPr>
          <c:marker>
            <c:symbol val="square"/>
            <c:size val="9"/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0.25</c:v>
                </c:pt>
                <c:pt idx="1">
                  <c:v>1.75</c:v>
                </c:pt>
                <c:pt idx="2">
                  <c:v>2</c:v>
                </c:pt>
                <c:pt idx="3">
                  <c:v>2.25</c:v>
                </c:pt>
              </c:numCache>
            </c:numRef>
          </c:xVal>
          <c:yVal>
            <c:numRef>
              <c:f>'Chart Data'!$D$2:$D$5</c:f>
              <c:numCache>
                <c:formatCode>0.00</c:formatCode>
                <c:ptCount val="4"/>
                <c:pt idx="0">
                  <c:v>0.39875</c:v>
                </c:pt>
                <c:pt idx="1">
                  <c:v>0.39125</c:v>
                </c:pt>
                <c:pt idx="2">
                  <c:v>0.48</c:v>
                </c:pt>
                <c:pt idx="3">
                  <c:v>0.4775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5"/>
          <c:min val="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2.5"/>
          <c:min val="0"/>
        </c:scaling>
        <c:delete val="0"/>
        <c:axPos val="b"/>
        <c:numFmt formatCode="0.0&quot;s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43D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通过数</c:v>
          </c:tx>
          <c:spPr>
            <a:solidFill xmlns:a="http://schemas.openxmlformats.org/drawingml/2006/main">
              <a:srgbClr val="17408B"/>
            </a:solidFill>
          </c:spPr>
          <c:cat>
            <c:strRef>
              <c:f>'Chart Data'!$A$2:$A$4</c:f>
              <c:strCache>
                <c:ptCount val="3"/>
                <c:pt idx="0">
                  <c:v>Node 测试</c:v>
                </c:pt>
                <c:pt idx="1">
                  <c:v>Python 测试</c:v>
                </c:pt>
                <c:pt idx="2">
                  <c:v>浏览器检查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504</c:v>
                </c:pt>
                <c:pt idx="1">
                  <c:v>197</c:v>
                </c:pt>
                <c:pt idx="2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4243D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7BD28-2A30-4BFA-91AD-3BFF3DF2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7D3E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7D3E5"/>
                </a:solidFill>
                <a:latin typeface="PingFang SC"/>
                <a:ea typeface="PingFang SC"/>
                <a:cs typeface="PingFang SC"/>
              </a:rPr>
              <a:t>01  CourtLens Arena 4.1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BDB11-81F0-46AB-9804-40FA1485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rPr>
              <a:t>本地产品验收说明，非最终决赛提交版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39DE4-3A6D-4A9D-BF75-7D915E11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5048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CourtLens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Arena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F7121-B76E-444D-B2F2-5B53A7BC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4953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这一球，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为什么这样打？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a5f3bfb3542cf"/>
          <a:stretch xmlns:a="http://schemas.openxmlformats.org/drawingml/2006/main"/>
        </p:blipFill>
        <p:spPr>
          <a:xfrm xmlns:a="http://schemas.openxmlformats.org/drawingml/2006/main">
            <a:off x="5476875" y="1069479"/>
            <a:ext cx="6238875" cy="350936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D8D68-7196-4BA8-9D77-A92027A8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15302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本地产品验收</a:t>
            </a:r>
          </a:p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 AWS 接入准备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304C5-5C65-478C-B56F-0697C022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7D3E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7D3E5"/>
                </a:solidFill>
                <a:latin typeface="PingFang SC"/>
                <a:ea typeface="PingFang SC"/>
                <a:cs typeface="PingFang SC"/>
              </a:rPr>
              <a:t>画面、指标与轨迹为合成演练</a:t>
            </a:r>
          </a:p>
        </p:txBody>
      </p:sp>
    </p:spTree>
    <p:extLst>
      <p:ext uri="{BB962C8B-B14F-4D97-AF65-F5344CB8AC3E}">
        <p14:creationId xmlns:p14="http://schemas.microsoft.com/office/powerpoint/2010/main" val="1645580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F4359-CAA5-4EC0-8B7F-9434785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观众先看比赛，再看解释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893D8-215F-494F-99CD-6CACBA70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02  CourtLens Arena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05EC8-C86A-4EE0-829C-C0F6DCCD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真实本地界面，390px 移动端已检查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d1f34f0034751"/>
          <a:srcRect xmlns:a="http://schemas.openxmlformats.org/drawingml/2006/main" l="0" t="27500" r="0" b="0"/>
          <a:stretch xmlns:a="http://schemas.openxmlformats.org/drawingml/2006/main"/>
        </p:blipFill>
        <p:spPr>
          <a:xfrm xmlns:a="http://schemas.openxmlformats.org/drawingml/2006/main">
            <a:off x="563289" y="1228725"/>
            <a:ext cx="8607972" cy="433387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280bb363f40d1"/>
          <a:srcRect xmlns:a="http://schemas.openxmlformats.org/drawingml/2006/main" l="0" t="20500" r="0" b="42300"/>
          <a:stretch xmlns:a="http://schemas.openxmlformats.org/drawingml/2006/main"/>
        </p:blipFill>
        <p:spPr>
          <a:xfrm xmlns:a="http://schemas.openxmlformats.org/drawingml/2006/main">
            <a:off x="9620250" y="1418709"/>
            <a:ext cx="2114550" cy="389675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C6807-FEC3-4520-A4E9-73A0CFEC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原片对照与增强画面共用播放时钟</a:t>
            </a:r>
          </a:p>
        </p:txBody>
      </p:sp>
    </p:spTree>
    <p:extLst>
      <p:ext uri="{BB962C8B-B14F-4D97-AF65-F5344CB8AC3E}">
        <p14:creationId xmlns:p14="http://schemas.microsoft.com/office/powerpoint/2010/main" val="565773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170C9-2DE0-4CF4-A5E2-161F0EE7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编辑修改与发布前复核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4D1F1-871F-4BCE-B024-14A8DE5C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03  CourtLens Arena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B14F3-195B-4161-80B5-5E662A6A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修改文句或箭头后，旧审阅与成片状态失效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b4302912543a5"/>
          <a:srcRect xmlns:a="http://schemas.openxmlformats.org/drawingml/2006/main" l="0" t="27000" r="0" b="0"/>
          <a:stretch xmlns:a="http://schemas.openxmlformats.org/drawingml/2006/main"/>
        </p:blipFill>
        <p:spPr>
          <a:xfrm xmlns:a="http://schemas.openxmlformats.org/drawingml/2006/main">
            <a:off x="457200" y="1359065"/>
            <a:ext cx="8410575" cy="42636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CBE2B-5FCC-45F9-A4F5-12C7DDB0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00175"/>
            <a:ext cx="2524125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选片段入出点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逐句查看证据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修正图层和解说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重新审阅并导出</a:t>
            </a:r>
          </a:p>
        </p:txBody>
      </p:sp>
    </p:spTree>
    <p:extLst>
      <p:ext uri="{BB962C8B-B14F-4D97-AF65-F5344CB8AC3E}">
        <p14:creationId xmlns:p14="http://schemas.microsoft.com/office/powerpoint/2010/main" val="1971039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676E1-0357-495F-8360-02AE312E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指标粒度与解释范围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39230-2F85-4E23-BD90-E426977E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04  CourtLens Arena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F3767-93D4-46EB-B6D6-4830553B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本地适配契约，正式数据字典仍待提供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962400"/>
                <a:gridCol w="4552950"/>
              </a:tblGrid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输入粒度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可解释的对象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在故事中的约束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单次出手 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这一球的命中概率或难度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明确单位、出手身份与可用时刻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逐事件 event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有球或无球的对应球员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保留事件ID与指标有效区间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单回合 possession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本回合的来源指标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只在定义兼容时参与回合比较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球员 player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给定统计区间的背景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保留范围，不替代瞬时球场变化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赛季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球员或球队的赛季背景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范围与身份匹配，不进入瞬时排序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0D82F-787F-462F-B89B-E7E3BADB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未知口径保留原值，缺失保留 null</a:t>
            </a:r>
          </a:p>
        </p:txBody>
      </p:sp>
    </p:spTree>
    <p:extLst>
      <p:ext uri="{BB962C8B-B14F-4D97-AF65-F5344CB8AC3E}">
        <p14:creationId xmlns:p14="http://schemas.microsoft.com/office/powerpoint/2010/main" val="141473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D74B2-6F34-425A-9669-75301D2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输入概率与实际投篮结果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BCDC8-08B2-49DB-B638-EDFF26DC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05  CourtLens Arena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F1037-CC00-4307-BE89-799B913B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合成演练数据，不是 NBA 真实比赛统计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57200" y="1400175"/>
          <a:ext xmlns:a="http://schemas.openxmlformats.org/drawingml/2006/main" cx="7239000" cy="4029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b47560b7cb4d67"/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8315325" y="1600200"/>
          <a:ext xmlns:a="http://schemas.openxmlformats.org/drawingml/2006/main" cx="3419475" cy="2943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038350"/>
              </a:tblGrid>
              <a:tr h="7358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回合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输入结果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7358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58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58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EE46E-F1E8-46D5-A1C6-939EA572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概率描述预期，结果在独立时刻揭晓</a:t>
            </a:r>
          </a:p>
        </p:txBody>
      </p:sp>
    </p:spTree>
    <p:extLst>
      <p:ext uri="{BB962C8B-B14F-4D97-AF65-F5344CB8AC3E}">
        <p14:creationId xmlns:p14="http://schemas.microsoft.com/office/powerpoint/2010/main" val="1538607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88B10-54BE-48CB-AF7F-3B5A2C34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动态镜头的投影与失效保护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6EFC7-FBAE-4C04-84EE-F469BC01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06  CourtLens Arena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841FB-C42A-4D31-ADFD-9C279196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人工关键帧与独立检查，未运行自动光流或身份识别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6696075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d28329bb9d447a"/>
          </a:graphicData>
        </a:graphic>
      </p:graphicFrame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3bfb168d449fe"/>
          <a:stretch xmlns:a="http://schemas.openxmlformats.org/drawingml/2006/main"/>
        </p:blipFill>
        <p:spPr>
          <a:xfrm xmlns:a="http://schemas.openxmlformats.org/drawingml/2006/main">
            <a:off x="7629525" y="1583829"/>
            <a:ext cx="4105275" cy="2309217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ea33d3caf41b0"/>
          <a:srcRect xmlns:a="http://schemas.openxmlformats.org/drawingml/2006/main" l="27778" t="14600" r="27778" b="65200"/>
          <a:stretch xmlns:a="http://schemas.openxmlformats.org/drawingml/2006/main"/>
        </p:blipFill>
        <p:spPr>
          <a:xfrm xmlns:a="http://schemas.openxmlformats.org/drawingml/2006/main">
            <a:off x="7630044" y="3943350"/>
            <a:ext cx="4104238" cy="1295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44484-938B-428E-9C03-5185C4F1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05425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人工关键帧与独立检查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4F107-AA54-4CFB-A820-44501775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固定球员 A 的球场坐标不变，画面投影随平移、缩放与切镜改变</a:t>
            </a:r>
          </a:p>
        </p:txBody>
      </p:sp>
    </p:spTree>
    <p:extLst>
      <p:ext uri="{BB962C8B-B14F-4D97-AF65-F5344CB8AC3E}">
        <p14:creationId xmlns:p14="http://schemas.microsoft.com/office/powerpoint/2010/main" val="1591566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410700" y="21955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96125" y="21955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81550" y="21955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66975" y="21955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B771B6-8AA0-4E4D-9209-56513D1A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StoryPlan、人工审阅与缓存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64861-0C25-401B-8BE8-7ACD03E6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07  CourtLens Arena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AC8F7-E4AD-460F-ABC9-C324242F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模型提议可以导入，默认生成仍是确定性证据编排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AC98B-48BE-4BE0-B703-52FA5B2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0097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EAF6E-E562-4440-B316-EECA7501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B208E-4703-48B5-85D7-A4A162AF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90750"/>
            <a:ext cx="1724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项目与证据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68C5E-F794-4DE7-B5A9-D3FD51EB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19250"/>
            <a:ext cx="20097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81BC4-8E8B-43FE-988B-3AD00BF3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526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提议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E2F1A-F311-4883-A4EE-550CBC58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90750"/>
            <a:ext cx="1724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文句和图层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1D226-46BD-429A-872D-DCB01999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19250"/>
            <a:ext cx="20097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9290A-A8EC-42ED-B808-04354C5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7526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CC679-6E5F-468B-82AB-B463A856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190750"/>
            <a:ext cx="1724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身份 数字 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F851F-6976-4FAE-A615-634334C4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19250"/>
            <a:ext cx="20097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082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F6355-FAE8-4778-8648-EEF50A9E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526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人审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8FAD0-3121-4F78-8E17-789E2AD9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90750"/>
            <a:ext cx="1724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最终内容版本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3906B-F333-4DAB-A2BE-88BFDED2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19250"/>
            <a:ext cx="20097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82077-4E87-444C-9055-4F71EF9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526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成片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157AB-E123-4C77-B240-B08DBB63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90750"/>
            <a:ext cx="17240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版本与字节哈希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77EB7-0FA3-4316-8C7C-5CCB42D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推理缓存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DCCF9-49E9-440D-958A-96032FBB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433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输入、模型、提示词与参数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9112D-2100-4388-9138-02FECE5A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渲染缓存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B91483-E162-4462-8735-8E2DF0D0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481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最终文句、箭头、图层、时间、音频、字体与资产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D4169F-08D7-409F-B4F1-BF39C2A4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人工改动保留父版本与原始提议，新的内容必须重新审阅</a:t>
            </a:r>
          </a:p>
        </p:txBody>
      </p:sp>
    </p:spTree>
    <p:extLst>
      <p:ext uri="{BB962C8B-B14F-4D97-AF65-F5344CB8AC3E}">
        <p14:creationId xmlns:p14="http://schemas.microsoft.com/office/powerpoint/2010/main" val="1097572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19E85-2148-416F-8B40-345A60DD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本地实测与真实成片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A0A18-4869-4435-BEF2-F4AC5C3F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08  CourtLens Arena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80B08-5E6D-4B01-B561-04FBF1BA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macOS 本机实测，Linux、AWS 与正式数据待验证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f592d5fe24493"/>
          <a:stretch xmlns:a="http://schemas.openxmlformats.org/drawingml/2006/main"/>
        </p:blipFill>
        <p:spPr>
          <a:xfrm xmlns:a="http://schemas.openxmlformats.org/drawingml/2006/main">
            <a:off x="478367" y="1390650"/>
            <a:ext cx="6587067" cy="37052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524750" y="1504950"/>
          <a:ext xmlns:a="http://schemas.openxmlformats.org/drawingml/2006/main" cx="421005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77733befc0407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7E3D2-C81B-4686-AA11-E27F85AE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62550"/>
            <a:ext cx="4162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Python 1 项跳过，未计入通过数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9562C-F2BF-43F9-91F2-1C5248DF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402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12 秒   300 帧   0.72 MiB   静音 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7DDCD-C327-4B14-A2AD-99982641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成片、字幕和 StoryPlan 共同绑定不可变发布清单</a:t>
            </a:r>
          </a:p>
        </p:txBody>
      </p:sp>
    </p:spTree>
    <p:extLst>
      <p:ext uri="{BB962C8B-B14F-4D97-AF65-F5344CB8AC3E}">
        <p14:creationId xmlns:p14="http://schemas.microsoft.com/office/powerpoint/2010/main" val="697774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/>
          <p:cNvCxnSpPr>
            <a:stCxn xmlns:a="http://schemas.openxmlformats.org/drawingml/2006/main" id="25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2838450" y="421957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22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5800725" y="421957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9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8763000" y="42195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544175" y="2571750"/>
            <a:ext cx="0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082A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63000" y="20002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00725" y="20002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38450" y="20002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4C08C0-F104-4ACE-B65A-4F231DC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AWS 接入准备与目标架构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6DD99-3A2C-41DF-973B-B0D79081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09  CourtLens Arena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26669-D912-4405-9A97-CFF47C47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尚未部署，账号、区域、模型和服务以 Portal 确认为准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13FA5-A0C9-4E5E-8AE7-5ED608A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F8B27-32D7-4C45-8F9D-EE187E95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62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私有 S3 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06207-E078-4421-9B9F-E9A16DAB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原片与数据版本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194C2-7016-4531-A07A-8A74B299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428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A8D1F-A1DE-4F28-A47D-FAF6C40C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62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API 与任务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9C451-FD29-4DA9-BD7A-AB3F5376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身份校验和编排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3BDBF-4F79-4989-8FDD-D94E2ABC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93BED-D51D-4938-8895-C8358B01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62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AWS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81CD0-3419-4517-B49F-9AC12ACB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Portal 确认后接入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743F1-85F4-4088-BE8E-8C4943B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082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87956-E043-4725-AA85-2FD9B855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562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StoryPlan 人审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54403-1991-47EF-A27F-2CF9531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冻结最终内容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1EAD3-A4B1-4ECA-923F-A707D371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480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E8BE3-A3E7-43A9-8A8E-421776EF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7814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ECS 成片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5D895-6083-49FD-A9F5-921C79D4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195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Canvas 与 FFmpeg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61425-EC7A-423B-A51E-BBD3C1FD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60F3A-2C04-4527-9FDB-F5217C4B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814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私有 S3 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6E232-B72B-4149-9B8D-36AA5F45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195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MP4 与版本清单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35E31-355C-4F1E-9771-297D19C1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480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121F2-EA06-4122-8608-D935A513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814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CloudFront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B7ABB3-BA77-4EF5-8A44-950C2714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95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正式作品入口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EF183-334B-409D-9F87-9AD1873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5FB3E6-7148-4808-8937-8F5B4F1F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814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独立访问检查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C245E3-864E-4B5A-B78D-C969ADC4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195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播放与当前版本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C69617-43D7-40A8-BD38-A1A644BF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正式输入与模型能力、CDK 部署、Portal 绑定和提交回执仍待实测</a:t>
            </a:r>
          </a:p>
        </p:txBody>
      </p:sp>
    </p:spTree>
    <p:extLst>
      <p:ext uri="{BB962C8B-B14F-4D97-AF65-F5344CB8AC3E}">
        <p14:creationId xmlns:p14="http://schemas.microsoft.com/office/powerpoint/2010/main" val="7467710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801100" y="35623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86450" y="35623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35623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2BCF19-ADD6-4EB7-BA81-83EADE4F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现场 120 分钟的收敛目标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EA096-85FC-440D-9A67-82464192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10  CourtLens Arena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8F613-3A37-416B-B484-F62B212C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29375"/>
            <a:ext cx="668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目标尚未做陌生正式素材的完整计时验收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BDCD0-5E61-4F08-BDD8-DC8BDBB4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T+50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60898-F427-4DF3-B5F7-47D28AE1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B8FAF-B715-4AC9-A072-7F0A73A9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13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可信事件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42A7F-821C-4D68-A689-D4572D2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19450"/>
            <a:ext cx="22288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没有完整计划时</a:t>
            </a:r>
          </a:p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缩至一个有证据事件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D5AD3-42E3-4C34-ADBA-431FB33B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04950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T+70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C7D20-8960-4A37-8721-C2268418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47950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78870-D764-4B07-AA1D-C54B40B7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813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可播放版本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DE1FE-9593-43D0-AE64-796BF287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19450"/>
            <a:ext cx="22288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配音超窗或失败时</a:t>
            </a:r>
          </a:p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使用已测字幕版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5CFC0-501E-4050-92B2-417D73C0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T+90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C638B-2EA7-49DA-921A-BDF5FE8C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082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E9709-C5B6-4E84-B2E2-17672D81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813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可评云版本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4F311-B744-476A-A65C-F4824D1A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19450"/>
            <a:ext cx="22288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独立浏览器可播放</a:t>
            </a:r>
          </a:p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CloudFront 当前版本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76A7D-DDF1-4E83-8515-C94A7AA7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04950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T+120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82247-D682-4C59-8842-4DF3F84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47BAF-F567-4675-B33A-0232B7A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813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提交与回执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D7700-E1C3-42C0-B3E4-EB20A7EC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19450"/>
            <a:ext cx="22288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核对代码与作品URL</a:t>
            </a:r>
          </a:p>
          <a:p xmlns:a="http://schemas.openxmlformats.org/drawingml/2006/main">
            <a:pPr>
              <a:def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保存版本和平台回执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7453A-491C-4A09-89D5-962A0DF9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11277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云服务或正式输入身份缺失，仍属于正式交付阻塞</a:t>
            </a:r>
          </a:p>
        </p:txBody>
      </p:sp>
    </p:spTree>
    <p:extLst>
      <p:ext uri="{BB962C8B-B14F-4D97-AF65-F5344CB8AC3E}">
        <p14:creationId xmlns:p14="http://schemas.microsoft.com/office/powerpoint/2010/main" val="604162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2026-09-28T13:31:19.1650000Z</dcterms:created>
  <dcterms:modified xsi:type="dcterms:W3CDTF">2026-09-28T13:31:19.1650000Z</dcterms:modified>
</coreProperties>
</file>